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6815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Buenos días. Presento AnyColor Salón, mi proyecto del curso. En este primer sprint traigo la documentación completa: el problema, los actores, la arquitectura con su enfoque y su estilo, y el diseño con el modelo C4. Todo está en el repositorio de GitHub y en la versión 3 de la propuesta. Tiempo: 30 segundos.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cadenas de salones con varias sedes todavía manejan la agenda en papel o por WhatsApp personal y la caja en un cuaderno. Eso trae cinco problemas: cruces de citas, stock que no se descuenta, caja sin trazabilidad, comisiones en Excel y un dueño que no ve sus sedes juntas. El reto principal, y el que más pesa en la arquitectura, es el primero: que dos clientas no tomen el mismo estilista a la misma hora aunque reserven al mismo tiempo. (1 min)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Uso un solo nombre por actor en todos los documentos. Son cinco: la cliente que reserva, el estilista que atiende, el cajero que cobra, el administrador de sede que gestiona su local y el superadministrador que ve todas las sedes. Cada uno tiene un rol RBAC, y todo dato pertenece a una sede. Además el sistema se integra con cuatro sistemas externos: pasarela de pagos, mensajería, almacenamiento de objetos y, en el futuro, un proveedor de facturación electrónica. (1 min)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Antes de dibujar, identifiqué qué requisitos cambian la forma de la arquitectura. El más fuerte es DA01: evitar reservas solapadas con muchas clientas simultáneas, que sale del RF07 y del atributo de consistencia. Luego escalabilidad, consistencia de caja e inventario, seguridad por sede y mantenibilidad. Cada driver termina en una decisión registrada como ADR, y cada atributo lo convertí en un escenario medible: por ejemplo EQ-05 dice cero citas solapadas, y eso ya está probado. (1 min)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enfoque es Clean Architecture. Las dependencias apuntan hacia el dominio: presentación usa aplicación, aplicación usa dominio, e infraestructura implementa los contratos que el dominio declara. El dominio tiene las reglas del salón: la cita y sus estados, el rango horario y sus solapes, la venta, el inventario. Elegí Clean y no Hexagonal porque necesito una capa explícita de casos de uso, que es donde vive la lógica de reservar; igual conservo la idea de puertos y adaptadores. (1 min)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Así se aplica en el caso más difícil. Primero la clienta bloquea el estilista y el sillón por cinco minutos en Redis con SET NX: si otra clienta pide lo mismo, Redis responde nulo y se le devuelve 409. Al confirmar, verifico que el bloqueo siga siendo suyo y vuelvo a consultar la base. Y como última defensa, PostgreSQL tiene una restricción EXCLUDE que impide dos citas solapadas aunque Redis se caiga. Redis acelera, PostgreSQL garantiza. Gracias a Clean Architecture, las 16 pruebas corren sin Redis ni base de datos. (1 min 15)</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estilo es un monolito modular con un frontend SPA. Un solo backend en NestJS, pero dividido en ocho módulos con fronteras claras: un módulo no toca las tablas de otro. La API no guarda estado, así que en una campaña como el Día de la Madre agrego instancias detrás del balanceador. ¿Por qué no microservicios? Porque una venta descuenta inventario y genera comisión en la misma transacción; separarlos me obligaría a consistencia eventual y a operar muchos servicios siendo un equipo de una persona. (1 min)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comunicar la arquitectura uso el modelo C4, que funciona como un mapa con zoom. Nivel 1, contexto: el sistema como una caja. Nivel 2, contenedores: qué se ejecuta por separado y con qué tecnología. Nivel 3, componentes: los módulos dentro de la API. Nivel 4, código: las clases del módulo Citas. Cada nivel abre una caja del anterior y mantiene sus relaciones. (40 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el contexto, AnyColor Salón es una sola caja. Arriba los cinco actores con lo que hace cada uno; abajo los sistemas externos. Dos decisiones se ven ya aquí: no guardamos datos de tarjeta, solo el identificador de la transacción, y cada proveedor se conecta por un adaptador. La facturación SUNAT está en línea punteada porque está fuera de alcance, pero la interfaz queda preparada. (45 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 abrir la caja aparecen los contenedores: la aplicación web en Next.js, la API AnyColor en NestJS como monolito modular, PostgreSQL como fuente de verdad, Redis para los bloqueos de cinco minutos, la caché y la cola, y los workers que envían recordatorios. La réplica de lectura está punteada porque es de la etapa 3. El navegador nunca habla con la base ni con Redis: solo con la API, por HTTPS y con JWT. (1 min)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Dentro de la API, el componente API REST recibe las peticiones y aplica JWT, permisos por sede e idempotencia. Debajo están los ocho módulos. Citas consulta al Catálogo la duración del servicio y usa Redis para el bloqueo; POS y Caja cobra la cita atendida, descuenta inventario y registra la comisión; Notificaciones encola los mensajes para los workers. Cada módulo lee solo sus tablas y se comunica con los demás por su API pública. Cada componente sale de un requisito: por ejemplo Citas sale de RF05 a RF08 y del driver DA01. (1 min 15)</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nivel 4 lo dibujé solo para Citas, porque es el módulo crítico. Se ven las cuatro capas: el controlador en presentación, los dos casos de uso en aplicación, la entidad Cita, el rango horario y los contratos en dominio, y en infraestructura el adaptador de Redis y las versiones en memoria para pruebas. Las flechas punteadas con triángulo son implementaciones: siempre apuntan hacia el dominio. Este diagrama coincide con el código que está en la carpeta tecnologia del repositorio. (1 min)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secuencia muestra el flujo completo en el tiempo: el bloqueo con SET NX en Redis, la respuesta 201 con 300 segundos para confirmar, y luego la confirmación, donde se verifica el titular del bloqueo, se hace la guardia final, se inserta con la restricción EXCLUDE, se libera el bloqueo y se notifica. Si el bloqueo venció, la respuesta es 409. (45 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31520"/>
            <a:ext cx="10058400" cy="365760"/>
          </a:xfrm>
          <a:prstGeom prst="rect">
            <a:avLst/>
          </a:prstGeom>
          <a:noFill/>
        </p:spPr>
        <p:txBody>
          <a:bodyPr wrap="square" lIns="45720" tIns="27432" rIns="45720" bIns="27432" anchor="t">
            <a:spAutoFit/>
          </a:bodyPr>
          <a:lstStyle/>
          <a:p>
            <a:pPr algn="l">
              <a:spcAft>
                <a:spcPts val="400"/>
              </a:spcAft>
            </a:pPr>
            <a:r>
              <a:rPr sz="1300" b="1" i="0">
                <a:solidFill>
                  <a:srgbClr val="C9D6EA"/>
                </a:solidFill>
                <a:latin typeface="Calibri"/>
              </a:rPr>
              <a:t>ARQUITECTURA DE SOFTWARE · IS-488 · PRIMER SPRINT</a:t>
            </a:r>
          </a:p>
        </p:txBody>
      </p:sp>
      <p:sp>
        <p:nvSpPr>
          <p:cNvPr id="4" name="TextBox 3"/>
          <p:cNvSpPr txBox="1"/>
          <p:nvPr/>
        </p:nvSpPr>
        <p:spPr>
          <a:xfrm>
            <a:off x="731520" y="1737360"/>
            <a:ext cx="10515600" cy="1097280"/>
          </a:xfrm>
          <a:prstGeom prst="rect">
            <a:avLst/>
          </a:prstGeom>
          <a:noFill/>
        </p:spPr>
        <p:txBody>
          <a:bodyPr wrap="square" lIns="45720" tIns="27432" rIns="45720" bIns="27432" anchor="t">
            <a:spAutoFit/>
          </a:bodyPr>
          <a:lstStyle/>
          <a:p>
            <a:pPr algn="l">
              <a:spcAft>
                <a:spcPts val="400"/>
              </a:spcAft>
            </a:pPr>
            <a:r>
              <a:rPr sz="6000" b="1" i="0">
                <a:solidFill>
                  <a:srgbClr val="FFFFFF"/>
                </a:solidFill>
                <a:latin typeface="Calibri"/>
              </a:rPr>
              <a:t>AnyColor Salón</a:t>
            </a:r>
          </a:p>
        </p:txBody>
      </p:sp>
      <p:sp>
        <p:nvSpPr>
          <p:cNvPr id="5" name="TextBox 4"/>
          <p:cNvSpPr txBox="1"/>
          <p:nvPr/>
        </p:nvSpPr>
        <p:spPr>
          <a:xfrm>
            <a:off x="731520" y="2788920"/>
            <a:ext cx="10241280" cy="1097280"/>
          </a:xfrm>
          <a:prstGeom prst="rect">
            <a:avLst/>
          </a:prstGeom>
          <a:noFill/>
        </p:spPr>
        <p:txBody>
          <a:bodyPr wrap="square" lIns="45720" tIns="27432" rIns="45720" bIns="27432" anchor="t">
            <a:spAutoFit/>
          </a:bodyPr>
          <a:lstStyle/>
          <a:p>
            <a:pPr algn="l">
              <a:spcAft>
                <a:spcPts val="400"/>
              </a:spcAft>
            </a:pPr>
            <a:r>
              <a:rPr sz="2200" b="0" i="0">
                <a:solidFill>
                  <a:srgbClr val="DCE6F6"/>
                </a:solidFill>
                <a:latin typeface="Calibri"/>
              </a:rPr>
              <a:t>Sistema web multisede para la gestión operativa, reserva concurrente de citas y control de ventas en salones de belleza</a:t>
            </a:r>
          </a:p>
        </p:txBody>
      </p:sp>
      <p:sp>
        <p:nvSpPr>
          <p:cNvPr id="6" name="TextBox 5"/>
          <p:cNvSpPr txBox="1"/>
          <p:nvPr/>
        </p:nvSpPr>
        <p:spPr>
          <a:xfrm>
            <a:off x="731520" y="4800600"/>
            <a:ext cx="7315200" cy="1097280"/>
          </a:xfrm>
          <a:prstGeom prst="rect">
            <a:avLst/>
          </a:prstGeom>
          <a:noFill/>
        </p:spPr>
        <p:txBody>
          <a:bodyPr wrap="square" lIns="45720" tIns="27432" rIns="45720" bIns="27432" anchor="t">
            <a:spAutoFit/>
          </a:bodyPr>
          <a:lstStyle/>
          <a:p>
            <a:pPr algn="l">
              <a:spcAft>
                <a:spcPts val="400"/>
              </a:spcAft>
            </a:pPr>
            <a:r>
              <a:rPr sz="1800" b="1" i="0">
                <a:solidFill>
                  <a:srgbClr val="FFFFFF"/>
                </a:solidFill>
                <a:latin typeface="Calibri"/>
              </a:rPr>
              <a:t>Andy Rodrigo Conde Cayllahua</a:t>
            </a:r>
          </a:p>
          <a:p>
            <a:pPr algn="l">
              <a:spcAft>
                <a:spcPts val="400"/>
              </a:spcAft>
            </a:pPr>
            <a:r>
              <a:rPr sz="1400" b="0" i="0">
                <a:solidFill>
                  <a:srgbClr val="C9D6EA"/>
                </a:solidFill>
                <a:latin typeface="Calibri"/>
              </a:rPr>
              <a:t>Docente: Ing. Lizbeth Jaico Quispe  ·  UNSCH  ·  2026-II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8229600" cy="320040"/>
          </a:xfrm>
          <a:prstGeom prst="rect">
            <a:avLst/>
          </a:prstGeom>
          <a:noFill/>
        </p:spPr>
        <p:txBody>
          <a:bodyPr wrap="square" lIns="45720" tIns="27432" rIns="45720" bIns="27432" anchor="t">
            <a:spAutoFit/>
          </a:bodyPr>
          <a:lstStyle/>
          <a:p>
            <a:pPr algn="l">
              <a:spcAft>
                <a:spcPts val="400"/>
              </a:spcAft>
            </a:pPr>
            <a:r>
              <a:rPr sz="1200" b="1" i="0">
                <a:solidFill>
                  <a:srgbClr val="B8336A"/>
                </a:solidFill>
                <a:latin typeface="Calibri"/>
              </a:rPr>
              <a:t>PROBLEMA</a:t>
            </a:r>
          </a:p>
        </p:txBody>
      </p:sp>
      <p:sp>
        <p:nvSpPr>
          <p:cNvPr id="3" name="TextBox 2"/>
          <p:cNvSpPr txBox="1"/>
          <p:nvPr/>
        </p:nvSpPr>
        <p:spPr>
          <a:xfrm>
            <a:off x="548640" y="566928"/>
            <a:ext cx="11155680" cy="731520"/>
          </a:xfrm>
          <a:prstGeom prst="rect">
            <a:avLst/>
          </a:prstGeom>
          <a:noFill/>
        </p:spPr>
        <p:txBody>
          <a:bodyPr wrap="square" lIns="45720" tIns="27432" rIns="45720" bIns="27432" anchor="t">
            <a:spAutoFit/>
          </a:bodyPr>
          <a:lstStyle/>
          <a:p>
            <a:pPr algn="l">
              <a:spcAft>
                <a:spcPts val="400"/>
              </a:spcAft>
            </a:pPr>
            <a:r>
              <a:rPr sz="3200" b="1" i="0">
                <a:solidFill>
                  <a:srgbClr val="1F3B66"/>
                </a:solidFill>
                <a:latin typeface="Calibri"/>
              </a:rPr>
              <a:t>Los salones con varias sedes trabajan a ciegas</a:t>
            </a:r>
          </a:p>
        </p:txBody>
      </p:sp>
      <p:sp>
        <p:nvSpPr>
          <p:cNvPr id="4" name="TextBox 3"/>
          <p:cNvSpPr txBox="1"/>
          <p:nvPr/>
        </p:nvSpPr>
        <p:spPr>
          <a:xfrm>
            <a:off x="548640" y="6419088"/>
            <a:ext cx="5486400" cy="274320"/>
          </a:xfrm>
          <a:prstGeom prst="rect">
            <a:avLst/>
          </a:prstGeom>
          <a:noFill/>
        </p:spPr>
        <p:txBody>
          <a:bodyPr wrap="square" lIns="45720" tIns="27432" rIns="45720" bIns="27432" anchor="t">
            <a:spAutoFit/>
          </a:bodyPr>
          <a:lstStyle/>
          <a:p>
            <a:pPr algn="l">
              <a:spcAft>
                <a:spcPts val="400"/>
              </a:spcAft>
            </a:pPr>
            <a:r>
              <a:rPr sz="1000" b="0" i="0">
                <a:solidFill>
                  <a:srgbClr val="5A6475"/>
                </a:solidFill>
                <a:latin typeface="Calibri"/>
              </a:rPr>
              <a:t>AnyColor Salón · Primer sprint</a:t>
            </a:r>
          </a:p>
        </p:txBody>
      </p:sp>
      <p:sp>
        <p:nvSpPr>
          <p:cNvPr id="5" name="TextBox 4"/>
          <p:cNvSpPr txBox="1"/>
          <p:nvPr/>
        </p:nvSpPr>
        <p:spPr>
          <a:xfrm>
            <a:off x="10698480" y="6419088"/>
            <a:ext cx="1005840" cy="274320"/>
          </a:xfrm>
          <a:prstGeom prst="rect">
            <a:avLst/>
          </a:prstGeom>
          <a:noFill/>
        </p:spPr>
        <p:txBody>
          <a:bodyPr wrap="square" lIns="45720" tIns="27432" rIns="45720" bIns="27432" anchor="t">
            <a:spAutoFit/>
          </a:bodyPr>
          <a:lstStyle/>
          <a:p>
            <a:pPr algn="r">
              <a:spcAft>
                <a:spcPts val="400"/>
              </a:spcAft>
            </a:pPr>
            <a:r>
              <a:rPr sz="1000" b="0" i="0">
                <a:solidFill>
                  <a:srgbClr val="5A6475"/>
                </a:solidFill>
                <a:latin typeface="Calibri"/>
              </a:rPr>
              <a:t>2 / 14</a:t>
            </a:r>
          </a:p>
        </p:txBody>
      </p:sp>
      <p:sp>
        <p:nvSpPr>
          <p:cNvPr id="6" name="TextBox 5"/>
          <p:cNvSpPr txBox="1"/>
          <p:nvPr/>
        </p:nvSpPr>
        <p:spPr>
          <a:xfrm>
            <a:off x="548640" y="1417320"/>
            <a:ext cx="4206240" cy="2377440"/>
          </a:xfrm>
          <a:prstGeom prst="rect">
            <a:avLst/>
          </a:prstGeom>
          <a:noFill/>
        </p:spPr>
        <p:txBody>
          <a:bodyPr wrap="square" lIns="45720" tIns="27432" rIns="45720" bIns="27432" anchor="t">
            <a:spAutoFit/>
          </a:bodyPr>
          <a:lstStyle/>
          <a:p>
            <a:pPr algn="l">
              <a:spcAft>
                <a:spcPts val="1200"/>
              </a:spcAft>
            </a:pPr>
            <a:r>
              <a:rPr sz="1800" b="0" i="0">
                <a:solidFill>
                  <a:srgbClr val="222B38"/>
                </a:solidFill>
                <a:latin typeface="Calibri"/>
              </a:rPr>
              <a:t>Hoy la agenda vive en papel y en el WhatsApp personal de cada estilista; la caja, en un cuaderno.</a:t>
            </a:r>
          </a:p>
          <a:p>
            <a:pPr algn="l">
              <a:spcAft>
                <a:spcPts val="1200"/>
              </a:spcAft>
            </a:pPr>
            <a:r>
              <a:rPr sz="1800" b="1" i="0">
                <a:solidFill>
                  <a:srgbClr val="222B38"/>
                </a:solidFill>
                <a:latin typeface="Calibri"/>
              </a:rPr>
              <a:t>Resultado: </a:t>
            </a:r>
            <a:r>
              <a:rPr sz="1800" b="0" i="0">
                <a:solidFill>
                  <a:srgbClr val="222B38"/>
                </a:solidFill>
                <a:latin typeface="Calibri"/>
              </a:rPr>
              <a:t>reclamos, mermas y decisiones sin datos.</a:t>
            </a:r>
          </a:p>
        </p:txBody>
      </p:sp>
      <p:sp>
        <p:nvSpPr>
          <p:cNvPr id="7" name="Rounded Rectangle 6"/>
          <p:cNvSpPr/>
          <p:nvPr/>
        </p:nvSpPr>
        <p:spPr>
          <a:xfrm>
            <a:off x="5120640" y="1417320"/>
            <a:ext cx="6492240" cy="768096"/>
          </a:xfrm>
          <a:prstGeom prst="roundRect">
            <a:avLst>
              <a:gd name="adj" fmla="val 8000"/>
            </a:avLst>
          </a:prstGeom>
          <a:solidFill>
            <a:srgbClr val="FB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285232" y="1572768"/>
            <a:ext cx="457200" cy="457200"/>
          </a:xfrm>
          <a:prstGeom prst="ellipse">
            <a:avLst/>
          </a:prstGeom>
          <a:solidFill>
            <a:srgbClr val="B8336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1</a:t>
            </a:r>
          </a:p>
        </p:txBody>
      </p:sp>
      <p:sp>
        <p:nvSpPr>
          <p:cNvPr id="9" name="TextBox 8"/>
          <p:cNvSpPr txBox="1"/>
          <p:nvPr/>
        </p:nvSpPr>
        <p:spPr>
          <a:xfrm>
            <a:off x="5897880" y="1490472"/>
            <a:ext cx="5577840" cy="640080"/>
          </a:xfrm>
          <a:prstGeom prst="rect">
            <a:avLst/>
          </a:prstGeom>
          <a:noFill/>
        </p:spPr>
        <p:txBody>
          <a:bodyPr wrap="square" lIns="45720" tIns="27432" rIns="45720" bIns="27432" anchor="t">
            <a:spAutoFit/>
          </a:bodyPr>
          <a:lstStyle/>
          <a:p>
            <a:pPr algn="l">
              <a:spcAft>
                <a:spcPts val="0"/>
              </a:spcAft>
            </a:pPr>
            <a:r>
              <a:rPr sz="1700" b="1" i="0">
                <a:solidFill>
                  <a:srgbClr val="1F3B66"/>
                </a:solidFill>
                <a:latin typeface="Calibri"/>
              </a:rPr>
              <a:t>Cruces de citas</a:t>
            </a:r>
          </a:p>
          <a:p>
            <a:pPr algn="l">
              <a:spcAft>
                <a:spcPts val="0"/>
              </a:spcAft>
            </a:pPr>
            <a:r>
              <a:rPr sz="1400" b="0" i="0">
                <a:solidFill>
                  <a:srgbClr val="5A6475"/>
                </a:solidFill>
                <a:latin typeface="Calibri"/>
              </a:rPr>
              <a:t>Dos clientas reservan el mismo estilista y sillón a la misma hora.</a:t>
            </a:r>
          </a:p>
        </p:txBody>
      </p:sp>
      <p:sp>
        <p:nvSpPr>
          <p:cNvPr id="10" name="Rounded Rectangle 9"/>
          <p:cNvSpPr/>
          <p:nvPr/>
        </p:nvSpPr>
        <p:spPr>
          <a:xfrm>
            <a:off x="5120640" y="2313432"/>
            <a:ext cx="6492240" cy="768096"/>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285232" y="2468880"/>
            <a:ext cx="457200" cy="457200"/>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2</a:t>
            </a:r>
          </a:p>
        </p:txBody>
      </p:sp>
      <p:sp>
        <p:nvSpPr>
          <p:cNvPr id="12" name="TextBox 11"/>
          <p:cNvSpPr txBox="1"/>
          <p:nvPr/>
        </p:nvSpPr>
        <p:spPr>
          <a:xfrm>
            <a:off x="5897880" y="2386584"/>
            <a:ext cx="5577840" cy="640080"/>
          </a:xfrm>
          <a:prstGeom prst="rect">
            <a:avLst/>
          </a:prstGeom>
          <a:noFill/>
        </p:spPr>
        <p:txBody>
          <a:bodyPr wrap="square" lIns="45720" tIns="27432" rIns="45720" bIns="27432" anchor="t">
            <a:spAutoFit/>
          </a:bodyPr>
          <a:lstStyle/>
          <a:p>
            <a:pPr algn="l">
              <a:spcAft>
                <a:spcPts val="0"/>
              </a:spcAft>
            </a:pPr>
            <a:r>
              <a:rPr sz="1700" b="1" i="0">
                <a:solidFill>
                  <a:srgbClr val="1F3B66"/>
                </a:solidFill>
                <a:latin typeface="Calibri"/>
              </a:rPr>
              <a:t>Stock sin control</a:t>
            </a:r>
          </a:p>
          <a:p>
            <a:pPr algn="l">
              <a:spcAft>
                <a:spcPts val="0"/>
              </a:spcAft>
            </a:pPr>
            <a:r>
              <a:rPr sz="1400" b="0" i="0">
                <a:solidFill>
                  <a:srgbClr val="5A6475"/>
                </a:solidFill>
                <a:latin typeface="Calibri"/>
              </a:rPr>
              <a:t>Los tintes y oxidantes no se descuentan al aplicar el servicio.</a:t>
            </a:r>
          </a:p>
        </p:txBody>
      </p:sp>
      <p:sp>
        <p:nvSpPr>
          <p:cNvPr id="13" name="Rounded Rectangle 12"/>
          <p:cNvSpPr/>
          <p:nvPr/>
        </p:nvSpPr>
        <p:spPr>
          <a:xfrm>
            <a:off x="5120640" y="3209544"/>
            <a:ext cx="6492240" cy="768096"/>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2" y="3364991"/>
            <a:ext cx="457200" cy="457200"/>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3</a:t>
            </a:r>
          </a:p>
        </p:txBody>
      </p:sp>
      <p:sp>
        <p:nvSpPr>
          <p:cNvPr id="15" name="TextBox 14"/>
          <p:cNvSpPr txBox="1"/>
          <p:nvPr/>
        </p:nvSpPr>
        <p:spPr>
          <a:xfrm>
            <a:off x="5897880" y="3282696"/>
            <a:ext cx="5577840" cy="640080"/>
          </a:xfrm>
          <a:prstGeom prst="rect">
            <a:avLst/>
          </a:prstGeom>
          <a:noFill/>
        </p:spPr>
        <p:txBody>
          <a:bodyPr wrap="square" lIns="45720" tIns="27432" rIns="45720" bIns="27432" anchor="t">
            <a:spAutoFit/>
          </a:bodyPr>
          <a:lstStyle/>
          <a:p>
            <a:pPr algn="l">
              <a:spcAft>
                <a:spcPts val="0"/>
              </a:spcAft>
            </a:pPr>
            <a:r>
              <a:rPr sz="1700" b="1" i="0">
                <a:solidFill>
                  <a:srgbClr val="1F3B66"/>
                </a:solidFill>
                <a:latin typeface="Calibri"/>
              </a:rPr>
              <a:t>Caja manual</a:t>
            </a:r>
          </a:p>
          <a:p>
            <a:pPr algn="l">
              <a:spcAft>
                <a:spcPts val="0"/>
              </a:spcAft>
            </a:pPr>
            <a:r>
              <a:rPr sz="1400" b="0" i="0">
                <a:solidFill>
                  <a:srgbClr val="5A6475"/>
                </a:solidFill>
                <a:latin typeface="Calibri"/>
              </a:rPr>
              <a:t>Se cuadra al final del día; faltantes sin trazabilidad.</a:t>
            </a:r>
          </a:p>
        </p:txBody>
      </p:sp>
      <p:sp>
        <p:nvSpPr>
          <p:cNvPr id="16" name="Rounded Rectangle 15"/>
          <p:cNvSpPr/>
          <p:nvPr/>
        </p:nvSpPr>
        <p:spPr>
          <a:xfrm>
            <a:off x="5120640" y="4105656"/>
            <a:ext cx="6492240" cy="768096"/>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285232" y="4261104"/>
            <a:ext cx="457200" cy="457200"/>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4</a:t>
            </a:r>
          </a:p>
        </p:txBody>
      </p:sp>
      <p:sp>
        <p:nvSpPr>
          <p:cNvPr id="18" name="TextBox 17"/>
          <p:cNvSpPr txBox="1"/>
          <p:nvPr/>
        </p:nvSpPr>
        <p:spPr>
          <a:xfrm>
            <a:off x="5897880" y="4178808"/>
            <a:ext cx="5577840" cy="640080"/>
          </a:xfrm>
          <a:prstGeom prst="rect">
            <a:avLst/>
          </a:prstGeom>
          <a:noFill/>
        </p:spPr>
        <p:txBody>
          <a:bodyPr wrap="square" lIns="45720" tIns="27432" rIns="45720" bIns="27432" anchor="t">
            <a:spAutoFit/>
          </a:bodyPr>
          <a:lstStyle/>
          <a:p>
            <a:pPr algn="l">
              <a:spcAft>
                <a:spcPts val="0"/>
              </a:spcAft>
            </a:pPr>
            <a:r>
              <a:rPr sz="1700" b="1" i="0">
                <a:solidFill>
                  <a:srgbClr val="1F3B66"/>
                </a:solidFill>
                <a:latin typeface="Calibri"/>
              </a:rPr>
              <a:t>Comisiones en Excel</a:t>
            </a:r>
          </a:p>
          <a:p>
            <a:pPr algn="l">
              <a:spcAft>
                <a:spcPts val="0"/>
              </a:spcAft>
            </a:pPr>
            <a:r>
              <a:rPr sz="1400" b="0" i="0">
                <a:solidFill>
                  <a:srgbClr val="5A6475"/>
                </a:solidFill>
                <a:latin typeface="Calibri"/>
              </a:rPr>
              <a:t>Errores de cálculo y conflictos con el personal.</a:t>
            </a:r>
          </a:p>
        </p:txBody>
      </p:sp>
      <p:sp>
        <p:nvSpPr>
          <p:cNvPr id="19" name="Rounded Rectangle 18"/>
          <p:cNvSpPr/>
          <p:nvPr/>
        </p:nvSpPr>
        <p:spPr>
          <a:xfrm>
            <a:off x="5120640" y="5001768"/>
            <a:ext cx="6492240" cy="768096"/>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285232" y="5157216"/>
            <a:ext cx="457200" cy="457200"/>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5</a:t>
            </a:r>
          </a:p>
        </p:txBody>
      </p:sp>
      <p:sp>
        <p:nvSpPr>
          <p:cNvPr id="21" name="TextBox 20"/>
          <p:cNvSpPr txBox="1"/>
          <p:nvPr/>
        </p:nvSpPr>
        <p:spPr>
          <a:xfrm>
            <a:off x="5897880" y="5074920"/>
            <a:ext cx="5577840" cy="640080"/>
          </a:xfrm>
          <a:prstGeom prst="rect">
            <a:avLst/>
          </a:prstGeom>
          <a:noFill/>
        </p:spPr>
        <p:txBody>
          <a:bodyPr wrap="square" lIns="45720" tIns="27432" rIns="45720" bIns="27432" anchor="t">
            <a:spAutoFit/>
          </a:bodyPr>
          <a:lstStyle/>
          <a:p>
            <a:pPr algn="l">
              <a:spcAft>
                <a:spcPts val="0"/>
              </a:spcAft>
            </a:pPr>
            <a:r>
              <a:rPr sz="1700" b="1" i="0">
                <a:solidFill>
                  <a:srgbClr val="1F3B66"/>
                </a:solidFill>
                <a:latin typeface="Calibri"/>
              </a:rPr>
              <a:t>Sin visión por sede</a:t>
            </a:r>
          </a:p>
          <a:p>
            <a:pPr algn="l">
              <a:spcAft>
                <a:spcPts val="0"/>
              </a:spcAft>
            </a:pPr>
            <a:r>
              <a:rPr sz="1400" b="0" i="0">
                <a:solidFill>
                  <a:srgbClr val="5A6475"/>
                </a:solidFill>
                <a:latin typeface="Calibri"/>
              </a:rPr>
              <a:t>El dueño no compara sus sedes ni ve indicadores.</a:t>
            </a:r>
          </a:p>
        </p:txBody>
      </p:sp>
      <p:sp>
        <p:nvSpPr>
          <p:cNvPr id="22" name="Rounded Rectangle 21"/>
          <p:cNvSpPr/>
          <p:nvPr/>
        </p:nvSpPr>
        <p:spPr>
          <a:xfrm>
            <a:off x="548640" y="3429000"/>
            <a:ext cx="4206240" cy="1737360"/>
          </a:xfrm>
          <a:prstGeom prst="roundRect">
            <a:avLst>
              <a:gd name="adj" fmla="val 8000"/>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3566160"/>
            <a:ext cx="3840480" cy="1554480"/>
          </a:xfrm>
          <a:prstGeom prst="rect">
            <a:avLst/>
          </a:prstGeom>
          <a:noFill/>
        </p:spPr>
        <p:txBody>
          <a:bodyPr wrap="square" lIns="45720" tIns="27432" rIns="45720" bIns="27432" anchor="t">
            <a:spAutoFit/>
          </a:bodyPr>
          <a:lstStyle/>
          <a:p>
            <a:pPr algn="l">
              <a:spcAft>
                <a:spcPts val="600"/>
              </a:spcAft>
            </a:pPr>
            <a:r>
              <a:rPr sz="1500" b="1" i="0">
                <a:solidFill>
                  <a:srgbClr val="F4B6CE"/>
                </a:solidFill>
                <a:latin typeface="Calibri"/>
              </a:rPr>
              <a:t>Reto principal</a:t>
            </a:r>
          </a:p>
          <a:p>
            <a:pPr algn="l">
              <a:spcAft>
                <a:spcPts val="600"/>
              </a:spcAft>
            </a:pPr>
            <a:r>
              <a:rPr sz="1600" b="0" i="0">
                <a:solidFill>
                  <a:srgbClr val="FFFFFF"/>
                </a:solidFill>
                <a:latin typeface="Calibri"/>
              </a:rPr>
              <a:t>Evitar cruces de horario cuando muchas clientas reservan a la vez, con caja e inventario consistentes en cada sede.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8229600" cy="320040"/>
          </a:xfrm>
          <a:prstGeom prst="rect">
            <a:avLst/>
          </a:prstGeom>
          <a:noFill/>
        </p:spPr>
        <p:txBody>
          <a:bodyPr wrap="square" lIns="45720" tIns="27432" rIns="45720" bIns="27432" anchor="t">
            <a:spAutoFit/>
          </a:bodyPr>
          <a:lstStyle/>
          <a:p>
            <a:pPr algn="l">
              <a:spcAft>
                <a:spcPts val="400"/>
              </a:spcAft>
            </a:pPr>
            <a:r>
              <a:rPr sz="1200" b="1" i="0">
                <a:solidFill>
                  <a:srgbClr val="B8336A"/>
                </a:solidFill>
                <a:latin typeface="Calibri"/>
              </a:rPr>
              <a:t>ACTORES</a:t>
            </a:r>
          </a:p>
        </p:txBody>
      </p:sp>
      <p:sp>
        <p:nvSpPr>
          <p:cNvPr id="3" name="TextBox 2"/>
          <p:cNvSpPr txBox="1"/>
          <p:nvPr/>
        </p:nvSpPr>
        <p:spPr>
          <a:xfrm>
            <a:off x="548640" y="566928"/>
            <a:ext cx="11155680" cy="731520"/>
          </a:xfrm>
          <a:prstGeom prst="rect">
            <a:avLst/>
          </a:prstGeom>
          <a:noFill/>
        </p:spPr>
        <p:txBody>
          <a:bodyPr wrap="square" lIns="45720" tIns="27432" rIns="45720" bIns="27432" anchor="t">
            <a:spAutoFit/>
          </a:bodyPr>
          <a:lstStyle/>
          <a:p>
            <a:pPr algn="l">
              <a:spcAft>
                <a:spcPts val="400"/>
              </a:spcAft>
            </a:pPr>
            <a:r>
              <a:rPr sz="3200" b="1" i="0">
                <a:solidFill>
                  <a:srgbClr val="1F3B66"/>
                </a:solidFill>
                <a:latin typeface="Calibri"/>
              </a:rPr>
              <a:t>Cinco actores y cuatro sistemas externos</a:t>
            </a:r>
          </a:p>
        </p:txBody>
      </p:sp>
      <p:sp>
        <p:nvSpPr>
          <p:cNvPr id="4" name="TextBox 3"/>
          <p:cNvSpPr txBox="1"/>
          <p:nvPr/>
        </p:nvSpPr>
        <p:spPr>
          <a:xfrm>
            <a:off x="548640" y="6419088"/>
            <a:ext cx="5486400" cy="274320"/>
          </a:xfrm>
          <a:prstGeom prst="rect">
            <a:avLst/>
          </a:prstGeom>
          <a:noFill/>
        </p:spPr>
        <p:txBody>
          <a:bodyPr wrap="square" lIns="45720" tIns="27432" rIns="45720" bIns="27432" anchor="t">
            <a:spAutoFit/>
          </a:bodyPr>
          <a:lstStyle/>
          <a:p>
            <a:pPr algn="l">
              <a:spcAft>
                <a:spcPts val="400"/>
              </a:spcAft>
            </a:pPr>
            <a:r>
              <a:rPr sz="1000" b="0" i="0">
                <a:solidFill>
                  <a:srgbClr val="5A6475"/>
                </a:solidFill>
                <a:latin typeface="Calibri"/>
              </a:rPr>
              <a:t>AnyColor Salón · Primer sprint</a:t>
            </a:r>
          </a:p>
        </p:txBody>
      </p:sp>
      <p:sp>
        <p:nvSpPr>
          <p:cNvPr id="5" name="TextBox 4"/>
          <p:cNvSpPr txBox="1"/>
          <p:nvPr/>
        </p:nvSpPr>
        <p:spPr>
          <a:xfrm>
            <a:off x="10698480" y="6419088"/>
            <a:ext cx="1005840" cy="274320"/>
          </a:xfrm>
          <a:prstGeom prst="rect">
            <a:avLst/>
          </a:prstGeom>
          <a:noFill/>
        </p:spPr>
        <p:txBody>
          <a:bodyPr wrap="square" lIns="45720" tIns="27432" rIns="45720" bIns="27432" anchor="t">
            <a:spAutoFit/>
          </a:bodyPr>
          <a:lstStyle/>
          <a:p>
            <a:pPr algn="r">
              <a:spcAft>
                <a:spcPts val="400"/>
              </a:spcAft>
            </a:pPr>
            <a:r>
              <a:rPr sz="1000" b="0" i="0">
                <a:solidFill>
                  <a:srgbClr val="5A6475"/>
                </a:solidFill>
                <a:latin typeface="Calibri"/>
              </a:rPr>
              <a:t>3 / 14</a:t>
            </a:r>
          </a:p>
        </p:txBody>
      </p:sp>
      <p:sp>
        <p:nvSpPr>
          <p:cNvPr id="6" name="Rounded Rectangle 5"/>
          <p:cNvSpPr/>
          <p:nvPr/>
        </p:nvSpPr>
        <p:spPr>
          <a:xfrm>
            <a:off x="548640" y="1463040"/>
            <a:ext cx="2084831" cy="269748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271016" y="1664208"/>
            <a:ext cx="640080" cy="640080"/>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CL</a:t>
            </a:r>
          </a:p>
        </p:txBody>
      </p:sp>
      <p:sp>
        <p:nvSpPr>
          <p:cNvPr id="8" name="TextBox 7"/>
          <p:cNvSpPr txBox="1"/>
          <p:nvPr/>
        </p:nvSpPr>
        <p:spPr>
          <a:xfrm>
            <a:off x="658368" y="2395728"/>
            <a:ext cx="1865376" cy="594360"/>
          </a:xfrm>
          <a:prstGeom prst="rect">
            <a:avLst/>
          </a:prstGeom>
          <a:noFill/>
        </p:spPr>
        <p:txBody>
          <a:bodyPr wrap="square" lIns="45720" tIns="27432" rIns="45720" bIns="27432" anchor="t">
            <a:spAutoFit/>
          </a:bodyPr>
          <a:lstStyle/>
          <a:p>
            <a:pPr algn="ctr">
              <a:spcAft>
                <a:spcPts val="400"/>
              </a:spcAft>
            </a:pPr>
            <a:r>
              <a:rPr sz="1600" b="1" i="0">
                <a:solidFill>
                  <a:srgbClr val="1F3B66"/>
                </a:solidFill>
                <a:latin typeface="Calibri"/>
              </a:rPr>
              <a:t>Cliente</a:t>
            </a:r>
          </a:p>
        </p:txBody>
      </p:sp>
      <p:sp>
        <p:nvSpPr>
          <p:cNvPr id="9" name="TextBox 8"/>
          <p:cNvSpPr txBox="1"/>
          <p:nvPr/>
        </p:nvSpPr>
        <p:spPr>
          <a:xfrm>
            <a:off x="658368" y="2926080"/>
            <a:ext cx="1865376" cy="274320"/>
          </a:xfrm>
          <a:prstGeom prst="rect">
            <a:avLst/>
          </a:prstGeom>
          <a:noFill/>
        </p:spPr>
        <p:txBody>
          <a:bodyPr wrap="square" lIns="45720" tIns="27432" rIns="45720" bIns="27432" anchor="t">
            <a:spAutoFit/>
          </a:bodyPr>
          <a:lstStyle/>
          <a:p>
            <a:pPr algn="ctr">
              <a:spcAft>
                <a:spcPts val="400"/>
              </a:spcAft>
            </a:pPr>
            <a:r>
              <a:rPr sz="1100" b="1" i="0">
                <a:solidFill>
                  <a:srgbClr val="B8336A"/>
                </a:solidFill>
                <a:latin typeface="Calibri"/>
              </a:rPr>
              <a:t>CLIENTE</a:t>
            </a:r>
          </a:p>
        </p:txBody>
      </p:sp>
      <p:sp>
        <p:nvSpPr>
          <p:cNvPr id="10" name="TextBox 9"/>
          <p:cNvSpPr txBox="1"/>
          <p:nvPr/>
        </p:nvSpPr>
        <p:spPr>
          <a:xfrm>
            <a:off x="685800" y="3200400"/>
            <a:ext cx="1810512" cy="914400"/>
          </a:xfrm>
          <a:prstGeom prst="rect">
            <a:avLst/>
          </a:prstGeom>
          <a:noFill/>
        </p:spPr>
        <p:txBody>
          <a:bodyPr wrap="square" lIns="45720" tIns="27432" rIns="45720" bIns="27432" anchor="t">
            <a:spAutoFit/>
          </a:bodyPr>
          <a:lstStyle/>
          <a:p>
            <a:pPr algn="ctr">
              <a:spcAft>
                <a:spcPts val="400"/>
              </a:spcAft>
            </a:pPr>
            <a:r>
              <a:rPr sz="1300" b="0" i="0">
                <a:solidFill>
                  <a:srgbClr val="5A6475"/>
                </a:solidFill>
                <a:latin typeface="Calibri"/>
              </a:rPr>
              <a:t>Reserva, cancela y consulta sus citas desde el celular</a:t>
            </a:r>
          </a:p>
        </p:txBody>
      </p:sp>
      <p:sp>
        <p:nvSpPr>
          <p:cNvPr id="11" name="Rounded Rectangle 10"/>
          <p:cNvSpPr/>
          <p:nvPr/>
        </p:nvSpPr>
        <p:spPr>
          <a:xfrm>
            <a:off x="2816352" y="1463040"/>
            <a:ext cx="2084831" cy="269748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538728" y="1664208"/>
            <a:ext cx="640080" cy="640080"/>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ES</a:t>
            </a:r>
          </a:p>
        </p:txBody>
      </p:sp>
      <p:sp>
        <p:nvSpPr>
          <p:cNvPr id="13" name="TextBox 12"/>
          <p:cNvSpPr txBox="1"/>
          <p:nvPr/>
        </p:nvSpPr>
        <p:spPr>
          <a:xfrm>
            <a:off x="2926080" y="2395728"/>
            <a:ext cx="1865376" cy="594360"/>
          </a:xfrm>
          <a:prstGeom prst="rect">
            <a:avLst/>
          </a:prstGeom>
          <a:noFill/>
        </p:spPr>
        <p:txBody>
          <a:bodyPr wrap="square" lIns="45720" tIns="27432" rIns="45720" bIns="27432" anchor="t">
            <a:spAutoFit/>
          </a:bodyPr>
          <a:lstStyle/>
          <a:p>
            <a:pPr algn="ctr">
              <a:spcAft>
                <a:spcPts val="400"/>
              </a:spcAft>
            </a:pPr>
            <a:r>
              <a:rPr sz="1600" b="1" i="0">
                <a:solidFill>
                  <a:srgbClr val="1F3B66"/>
                </a:solidFill>
                <a:latin typeface="Calibri"/>
              </a:rPr>
              <a:t>Estilista</a:t>
            </a:r>
          </a:p>
        </p:txBody>
      </p:sp>
      <p:sp>
        <p:nvSpPr>
          <p:cNvPr id="14" name="TextBox 13"/>
          <p:cNvSpPr txBox="1"/>
          <p:nvPr/>
        </p:nvSpPr>
        <p:spPr>
          <a:xfrm>
            <a:off x="2926080" y="2926080"/>
            <a:ext cx="1865376" cy="274320"/>
          </a:xfrm>
          <a:prstGeom prst="rect">
            <a:avLst/>
          </a:prstGeom>
          <a:noFill/>
        </p:spPr>
        <p:txBody>
          <a:bodyPr wrap="square" lIns="45720" tIns="27432" rIns="45720" bIns="27432" anchor="t">
            <a:spAutoFit/>
          </a:bodyPr>
          <a:lstStyle/>
          <a:p>
            <a:pPr algn="ctr">
              <a:spcAft>
                <a:spcPts val="400"/>
              </a:spcAft>
            </a:pPr>
            <a:r>
              <a:rPr sz="1100" b="1" i="0">
                <a:solidFill>
                  <a:srgbClr val="B8336A"/>
                </a:solidFill>
                <a:latin typeface="Calibri"/>
              </a:rPr>
              <a:t>ESTILISTA</a:t>
            </a:r>
          </a:p>
        </p:txBody>
      </p:sp>
      <p:sp>
        <p:nvSpPr>
          <p:cNvPr id="15" name="TextBox 14"/>
          <p:cNvSpPr txBox="1"/>
          <p:nvPr/>
        </p:nvSpPr>
        <p:spPr>
          <a:xfrm>
            <a:off x="2953512" y="3200400"/>
            <a:ext cx="1810512" cy="914400"/>
          </a:xfrm>
          <a:prstGeom prst="rect">
            <a:avLst/>
          </a:prstGeom>
          <a:noFill/>
        </p:spPr>
        <p:txBody>
          <a:bodyPr wrap="square" lIns="45720" tIns="27432" rIns="45720" bIns="27432" anchor="t">
            <a:spAutoFit/>
          </a:bodyPr>
          <a:lstStyle/>
          <a:p>
            <a:pPr algn="ctr">
              <a:spcAft>
                <a:spcPts val="400"/>
              </a:spcAft>
            </a:pPr>
            <a:r>
              <a:rPr sz="1300" b="0" i="0">
                <a:solidFill>
                  <a:srgbClr val="5A6475"/>
                </a:solidFill>
                <a:latin typeface="Calibri"/>
              </a:rPr>
              <a:t>Ve su agenda, atiende y consulta sus comisiones</a:t>
            </a:r>
          </a:p>
        </p:txBody>
      </p:sp>
      <p:sp>
        <p:nvSpPr>
          <p:cNvPr id="16" name="Rounded Rectangle 15"/>
          <p:cNvSpPr/>
          <p:nvPr/>
        </p:nvSpPr>
        <p:spPr>
          <a:xfrm>
            <a:off x="5084064" y="1463040"/>
            <a:ext cx="2084831" cy="269748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806440" y="1664208"/>
            <a:ext cx="640080" cy="640080"/>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CA</a:t>
            </a:r>
          </a:p>
        </p:txBody>
      </p:sp>
      <p:sp>
        <p:nvSpPr>
          <p:cNvPr id="18" name="TextBox 17"/>
          <p:cNvSpPr txBox="1"/>
          <p:nvPr/>
        </p:nvSpPr>
        <p:spPr>
          <a:xfrm>
            <a:off x="5193792" y="2395728"/>
            <a:ext cx="1865376" cy="594360"/>
          </a:xfrm>
          <a:prstGeom prst="rect">
            <a:avLst/>
          </a:prstGeom>
          <a:noFill/>
        </p:spPr>
        <p:txBody>
          <a:bodyPr wrap="square" lIns="45720" tIns="27432" rIns="45720" bIns="27432" anchor="t">
            <a:spAutoFit/>
          </a:bodyPr>
          <a:lstStyle/>
          <a:p>
            <a:pPr algn="ctr">
              <a:spcAft>
                <a:spcPts val="400"/>
              </a:spcAft>
            </a:pPr>
            <a:r>
              <a:rPr sz="1600" b="1" i="0">
                <a:solidFill>
                  <a:srgbClr val="1F3B66"/>
                </a:solidFill>
                <a:latin typeface="Calibri"/>
              </a:rPr>
              <a:t>Cajero</a:t>
            </a:r>
          </a:p>
        </p:txBody>
      </p:sp>
      <p:sp>
        <p:nvSpPr>
          <p:cNvPr id="19" name="TextBox 18"/>
          <p:cNvSpPr txBox="1"/>
          <p:nvPr/>
        </p:nvSpPr>
        <p:spPr>
          <a:xfrm>
            <a:off x="5193792" y="2926080"/>
            <a:ext cx="1865376" cy="274320"/>
          </a:xfrm>
          <a:prstGeom prst="rect">
            <a:avLst/>
          </a:prstGeom>
          <a:noFill/>
        </p:spPr>
        <p:txBody>
          <a:bodyPr wrap="square" lIns="45720" tIns="27432" rIns="45720" bIns="27432" anchor="t">
            <a:spAutoFit/>
          </a:bodyPr>
          <a:lstStyle/>
          <a:p>
            <a:pPr algn="ctr">
              <a:spcAft>
                <a:spcPts val="400"/>
              </a:spcAft>
            </a:pPr>
            <a:r>
              <a:rPr sz="1100" b="1" i="0">
                <a:solidFill>
                  <a:srgbClr val="B8336A"/>
                </a:solidFill>
                <a:latin typeface="Calibri"/>
              </a:rPr>
              <a:t>CAJERO</a:t>
            </a:r>
          </a:p>
        </p:txBody>
      </p:sp>
      <p:sp>
        <p:nvSpPr>
          <p:cNvPr id="20" name="TextBox 19"/>
          <p:cNvSpPr txBox="1"/>
          <p:nvPr/>
        </p:nvSpPr>
        <p:spPr>
          <a:xfrm>
            <a:off x="5221224" y="3200400"/>
            <a:ext cx="1810512" cy="914400"/>
          </a:xfrm>
          <a:prstGeom prst="rect">
            <a:avLst/>
          </a:prstGeom>
          <a:noFill/>
        </p:spPr>
        <p:txBody>
          <a:bodyPr wrap="square" lIns="45720" tIns="27432" rIns="45720" bIns="27432" anchor="t">
            <a:spAutoFit/>
          </a:bodyPr>
          <a:lstStyle/>
          <a:p>
            <a:pPr algn="ctr">
              <a:spcAft>
                <a:spcPts val="400"/>
              </a:spcAft>
            </a:pPr>
            <a:r>
              <a:rPr sz="1300" b="0" i="0">
                <a:solidFill>
                  <a:srgbClr val="5A6475"/>
                </a:solidFill>
                <a:latin typeface="Calibri"/>
              </a:rPr>
              <a:t>Abre y cierra caja, cobra servicios y productos</a:t>
            </a:r>
          </a:p>
        </p:txBody>
      </p:sp>
      <p:sp>
        <p:nvSpPr>
          <p:cNvPr id="21" name="Rounded Rectangle 20"/>
          <p:cNvSpPr/>
          <p:nvPr/>
        </p:nvSpPr>
        <p:spPr>
          <a:xfrm>
            <a:off x="7351775" y="1463040"/>
            <a:ext cx="2084831" cy="269748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074151" y="1664208"/>
            <a:ext cx="640080" cy="640080"/>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AS</a:t>
            </a:r>
          </a:p>
        </p:txBody>
      </p:sp>
      <p:sp>
        <p:nvSpPr>
          <p:cNvPr id="23" name="TextBox 22"/>
          <p:cNvSpPr txBox="1"/>
          <p:nvPr/>
        </p:nvSpPr>
        <p:spPr>
          <a:xfrm>
            <a:off x="7461503" y="2395728"/>
            <a:ext cx="1865376" cy="594360"/>
          </a:xfrm>
          <a:prstGeom prst="rect">
            <a:avLst/>
          </a:prstGeom>
          <a:noFill/>
        </p:spPr>
        <p:txBody>
          <a:bodyPr wrap="square" lIns="45720" tIns="27432" rIns="45720" bIns="27432" anchor="t">
            <a:spAutoFit/>
          </a:bodyPr>
          <a:lstStyle/>
          <a:p>
            <a:pPr algn="ctr">
              <a:spcAft>
                <a:spcPts val="400"/>
              </a:spcAft>
            </a:pPr>
            <a:r>
              <a:rPr sz="1600" b="1" i="0">
                <a:solidFill>
                  <a:srgbClr val="1F3B66"/>
                </a:solidFill>
                <a:latin typeface="Calibri"/>
              </a:rPr>
              <a:t>Administrador de sede</a:t>
            </a:r>
          </a:p>
        </p:txBody>
      </p:sp>
      <p:sp>
        <p:nvSpPr>
          <p:cNvPr id="24" name="TextBox 23"/>
          <p:cNvSpPr txBox="1"/>
          <p:nvPr/>
        </p:nvSpPr>
        <p:spPr>
          <a:xfrm>
            <a:off x="7461503" y="2926080"/>
            <a:ext cx="1865376" cy="274320"/>
          </a:xfrm>
          <a:prstGeom prst="rect">
            <a:avLst/>
          </a:prstGeom>
          <a:noFill/>
        </p:spPr>
        <p:txBody>
          <a:bodyPr wrap="square" lIns="45720" tIns="27432" rIns="45720" bIns="27432" anchor="t">
            <a:spAutoFit/>
          </a:bodyPr>
          <a:lstStyle/>
          <a:p>
            <a:pPr algn="ctr">
              <a:spcAft>
                <a:spcPts val="400"/>
              </a:spcAft>
            </a:pPr>
            <a:r>
              <a:rPr sz="1100" b="1" i="0">
                <a:solidFill>
                  <a:srgbClr val="B8336A"/>
                </a:solidFill>
                <a:latin typeface="Calibri"/>
              </a:rPr>
              <a:t>ADMIN_SEDE</a:t>
            </a:r>
          </a:p>
        </p:txBody>
      </p:sp>
      <p:sp>
        <p:nvSpPr>
          <p:cNvPr id="25" name="TextBox 24"/>
          <p:cNvSpPr txBox="1"/>
          <p:nvPr/>
        </p:nvSpPr>
        <p:spPr>
          <a:xfrm>
            <a:off x="7488936" y="3200400"/>
            <a:ext cx="1810512" cy="914400"/>
          </a:xfrm>
          <a:prstGeom prst="rect">
            <a:avLst/>
          </a:prstGeom>
          <a:noFill/>
        </p:spPr>
        <p:txBody>
          <a:bodyPr wrap="square" lIns="45720" tIns="27432" rIns="45720" bIns="27432" anchor="t">
            <a:spAutoFit/>
          </a:bodyPr>
          <a:lstStyle/>
          <a:p>
            <a:pPr algn="ctr">
              <a:spcAft>
                <a:spcPts val="400"/>
              </a:spcAft>
            </a:pPr>
            <a:r>
              <a:rPr sz="1300" b="0" i="0">
                <a:solidFill>
                  <a:srgbClr val="5A6475"/>
                </a:solidFill>
                <a:latin typeface="Calibri"/>
              </a:rPr>
              <a:t>Catálogo, inventario, personal y reportes de su sede</a:t>
            </a:r>
          </a:p>
        </p:txBody>
      </p:sp>
      <p:sp>
        <p:nvSpPr>
          <p:cNvPr id="26" name="Rounded Rectangle 25"/>
          <p:cNvSpPr/>
          <p:nvPr/>
        </p:nvSpPr>
        <p:spPr>
          <a:xfrm>
            <a:off x="9619488" y="1463040"/>
            <a:ext cx="2084831" cy="269748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0341863" y="1664208"/>
            <a:ext cx="640080" cy="640080"/>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SA</a:t>
            </a:r>
          </a:p>
        </p:txBody>
      </p:sp>
      <p:sp>
        <p:nvSpPr>
          <p:cNvPr id="28" name="TextBox 27"/>
          <p:cNvSpPr txBox="1"/>
          <p:nvPr/>
        </p:nvSpPr>
        <p:spPr>
          <a:xfrm>
            <a:off x="9729215" y="2395728"/>
            <a:ext cx="1865376" cy="594360"/>
          </a:xfrm>
          <a:prstGeom prst="rect">
            <a:avLst/>
          </a:prstGeom>
          <a:noFill/>
        </p:spPr>
        <p:txBody>
          <a:bodyPr wrap="square" lIns="45720" tIns="27432" rIns="45720" bIns="27432" anchor="t">
            <a:spAutoFit/>
          </a:bodyPr>
          <a:lstStyle/>
          <a:p>
            <a:pPr algn="ctr">
              <a:spcAft>
                <a:spcPts val="400"/>
              </a:spcAft>
            </a:pPr>
            <a:r>
              <a:rPr sz="1600" b="1" i="0">
                <a:solidFill>
                  <a:srgbClr val="1F3B66"/>
                </a:solidFill>
                <a:latin typeface="Calibri"/>
              </a:rPr>
              <a:t>SuperAdministrador</a:t>
            </a:r>
          </a:p>
        </p:txBody>
      </p:sp>
      <p:sp>
        <p:nvSpPr>
          <p:cNvPr id="29" name="TextBox 28"/>
          <p:cNvSpPr txBox="1"/>
          <p:nvPr/>
        </p:nvSpPr>
        <p:spPr>
          <a:xfrm>
            <a:off x="9729215" y="2926080"/>
            <a:ext cx="1865376" cy="274320"/>
          </a:xfrm>
          <a:prstGeom prst="rect">
            <a:avLst/>
          </a:prstGeom>
          <a:noFill/>
        </p:spPr>
        <p:txBody>
          <a:bodyPr wrap="square" lIns="45720" tIns="27432" rIns="45720" bIns="27432" anchor="t">
            <a:spAutoFit/>
          </a:bodyPr>
          <a:lstStyle/>
          <a:p>
            <a:pPr algn="ctr">
              <a:spcAft>
                <a:spcPts val="400"/>
              </a:spcAft>
            </a:pPr>
            <a:r>
              <a:rPr sz="1100" b="1" i="0">
                <a:solidFill>
                  <a:srgbClr val="B8336A"/>
                </a:solidFill>
                <a:latin typeface="Calibri"/>
              </a:rPr>
              <a:t>SUPER_ADMIN</a:t>
            </a:r>
          </a:p>
        </p:txBody>
      </p:sp>
      <p:sp>
        <p:nvSpPr>
          <p:cNvPr id="30" name="TextBox 29"/>
          <p:cNvSpPr txBox="1"/>
          <p:nvPr/>
        </p:nvSpPr>
        <p:spPr>
          <a:xfrm>
            <a:off x="9756648" y="3200400"/>
            <a:ext cx="1810512" cy="914400"/>
          </a:xfrm>
          <a:prstGeom prst="rect">
            <a:avLst/>
          </a:prstGeom>
          <a:noFill/>
        </p:spPr>
        <p:txBody>
          <a:bodyPr wrap="square" lIns="45720" tIns="27432" rIns="45720" bIns="27432" anchor="t">
            <a:spAutoFit/>
          </a:bodyPr>
          <a:lstStyle/>
          <a:p>
            <a:pPr algn="ctr">
              <a:spcAft>
                <a:spcPts val="400"/>
              </a:spcAft>
            </a:pPr>
            <a:r>
              <a:rPr sz="1300" b="0" i="0">
                <a:solidFill>
                  <a:srgbClr val="5A6475"/>
                </a:solidFill>
                <a:latin typeface="Calibri"/>
              </a:rPr>
              <a:t>Crea sedes y usuarios; ve todas las sedes y la auditoría</a:t>
            </a:r>
          </a:p>
        </p:txBody>
      </p:sp>
      <p:sp>
        <p:nvSpPr>
          <p:cNvPr id="31" name="TextBox 30"/>
          <p:cNvSpPr txBox="1"/>
          <p:nvPr/>
        </p:nvSpPr>
        <p:spPr>
          <a:xfrm>
            <a:off x="548640" y="4389120"/>
            <a:ext cx="5486400" cy="365760"/>
          </a:xfrm>
          <a:prstGeom prst="rect">
            <a:avLst/>
          </a:prstGeom>
          <a:noFill/>
        </p:spPr>
        <p:txBody>
          <a:bodyPr wrap="square" lIns="45720" tIns="27432" rIns="45720" bIns="27432" anchor="t">
            <a:spAutoFit/>
          </a:bodyPr>
          <a:lstStyle/>
          <a:p>
            <a:pPr algn="l">
              <a:spcAft>
                <a:spcPts val="400"/>
              </a:spcAft>
            </a:pPr>
            <a:r>
              <a:rPr sz="1600" b="1" i="0">
                <a:solidFill>
                  <a:srgbClr val="1F3B66"/>
                </a:solidFill>
                <a:latin typeface="Calibri"/>
              </a:rPr>
              <a:t>Sistemas externos</a:t>
            </a:r>
          </a:p>
        </p:txBody>
      </p:sp>
      <p:sp>
        <p:nvSpPr>
          <p:cNvPr id="32" name="Rounded Rectangle 31"/>
          <p:cNvSpPr/>
          <p:nvPr/>
        </p:nvSpPr>
        <p:spPr>
          <a:xfrm>
            <a:off x="548640" y="4846320"/>
            <a:ext cx="2651760" cy="1143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4937760"/>
            <a:ext cx="2286000" cy="1005840"/>
          </a:xfrm>
          <a:prstGeom prst="rect">
            <a:avLst/>
          </a:prstGeom>
          <a:noFill/>
        </p:spPr>
        <p:txBody>
          <a:bodyPr wrap="square" lIns="45720" tIns="27432" rIns="45720" bIns="27432" anchor="t">
            <a:spAutoFit/>
          </a:bodyPr>
          <a:lstStyle/>
          <a:p>
            <a:pPr algn="l">
              <a:spcAft>
                <a:spcPts val="100"/>
              </a:spcAft>
            </a:pPr>
            <a:r>
              <a:rPr sz="1500" b="1" i="0">
                <a:solidFill>
                  <a:srgbClr val="222B38"/>
                </a:solidFill>
                <a:latin typeface="Calibri"/>
              </a:rPr>
              <a:t>Pasarela de pagos</a:t>
            </a:r>
          </a:p>
          <a:p>
            <a:pPr algn="l">
              <a:spcAft>
                <a:spcPts val="100"/>
              </a:spcAft>
            </a:pPr>
            <a:r>
              <a:rPr sz="1300" b="0" i="0">
                <a:solidFill>
                  <a:srgbClr val="5A6475"/>
                </a:solidFill>
                <a:latin typeface="Calibri"/>
              </a:rPr>
              <a:t>Tarjeta y Yape/Plin</a:t>
            </a:r>
          </a:p>
          <a:p>
            <a:pPr algn="l">
              <a:spcAft>
                <a:spcPts val="100"/>
              </a:spcAft>
            </a:pPr>
            <a:r>
              <a:rPr sz="1200" b="1" i="0">
                <a:solidFill>
                  <a:srgbClr val="B8336A"/>
                </a:solidFill>
                <a:latin typeface="Calibri"/>
              </a:rPr>
              <a:t>MVP</a:t>
            </a:r>
          </a:p>
        </p:txBody>
      </p:sp>
      <p:sp>
        <p:nvSpPr>
          <p:cNvPr id="34" name="Rounded Rectangle 33"/>
          <p:cNvSpPr/>
          <p:nvPr/>
        </p:nvSpPr>
        <p:spPr>
          <a:xfrm>
            <a:off x="3383280" y="4846320"/>
            <a:ext cx="2651760" cy="1143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566160" y="4937760"/>
            <a:ext cx="2286000" cy="1005840"/>
          </a:xfrm>
          <a:prstGeom prst="rect">
            <a:avLst/>
          </a:prstGeom>
          <a:noFill/>
        </p:spPr>
        <p:txBody>
          <a:bodyPr wrap="square" lIns="45720" tIns="27432" rIns="45720" bIns="27432" anchor="t">
            <a:spAutoFit/>
          </a:bodyPr>
          <a:lstStyle/>
          <a:p>
            <a:pPr algn="l">
              <a:spcAft>
                <a:spcPts val="100"/>
              </a:spcAft>
            </a:pPr>
            <a:r>
              <a:rPr sz="1500" b="1" i="0">
                <a:solidFill>
                  <a:srgbClr val="222B38"/>
                </a:solidFill>
                <a:latin typeface="Calibri"/>
              </a:rPr>
              <a:t>Mensajería</a:t>
            </a:r>
          </a:p>
          <a:p>
            <a:pPr algn="l">
              <a:spcAft>
                <a:spcPts val="100"/>
              </a:spcAft>
            </a:pPr>
            <a:r>
              <a:rPr sz="1300" b="0" i="0">
                <a:solidFill>
                  <a:srgbClr val="5A6475"/>
                </a:solidFill>
                <a:latin typeface="Calibri"/>
              </a:rPr>
              <a:t>WhatsApp API / correo</a:t>
            </a:r>
          </a:p>
          <a:p>
            <a:pPr algn="l">
              <a:spcAft>
                <a:spcPts val="100"/>
              </a:spcAft>
            </a:pPr>
            <a:r>
              <a:rPr sz="1200" b="1" i="0">
                <a:solidFill>
                  <a:srgbClr val="B8336A"/>
                </a:solidFill>
                <a:latin typeface="Calibri"/>
              </a:rPr>
              <a:t>Etapa 2</a:t>
            </a:r>
          </a:p>
        </p:txBody>
      </p:sp>
      <p:sp>
        <p:nvSpPr>
          <p:cNvPr id="36" name="Rounded Rectangle 35"/>
          <p:cNvSpPr/>
          <p:nvPr/>
        </p:nvSpPr>
        <p:spPr>
          <a:xfrm>
            <a:off x="6217920" y="4846320"/>
            <a:ext cx="2651760" cy="1143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0" y="4937760"/>
            <a:ext cx="2286000" cy="1005840"/>
          </a:xfrm>
          <a:prstGeom prst="rect">
            <a:avLst/>
          </a:prstGeom>
          <a:noFill/>
        </p:spPr>
        <p:txBody>
          <a:bodyPr wrap="square" lIns="45720" tIns="27432" rIns="45720" bIns="27432" anchor="t">
            <a:spAutoFit/>
          </a:bodyPr>
          <a:lstStyle/>
          <a:p>
            <a:pPr algn="l">
              <a:spcAft>
                <a:spcPts val="100"/>
              </a:spcAft>
            </a:pPr>
            <a:r>
              <a:rPr sz="1500" b="1" i="0">
                <a:solidFill>
                  <a:srgbClr val="222B38"/>
                </a:solidFill>
                <a:latin typeface="Calibri"/>
              </a:rPr>
              <a:t>Almacén de objetos</a:t>
            </a:r>
          </a:p>
          <a:p>
            <a:pPr algn="l">
              <a:spcAft>
                <a:spcPts val="100"/>
              </a:spcAft>
            </a:pPr>
            <a:r>
              <a:rPr sz="1300" b="0" i="0">
                <a:solidFill>
                  <a:srgbClr val="5A6475"/>
                </a:solidFill>
                <a:latin typeface="Calibri"/>
              </a:rPr>
              <a:t>S3 / Cloudinary</a:t>
            </a:r>
          </a:p>
          <a:p>
            <a:pPr algn="l">
              <a:spcAft>
                <a:spcPts val="100"/>
              </a:spcAft>
            </a:pPr>
            <a:r>
              <a:rPr sz="1200" b="1" i="0">
                <a:solidFill>
                  <a:srgbClr val="B8336A"/>
                </a:solidFill>
                <a:latin typeface="Calibri"/>
              </a:rPr>
              <a:t>Etapa 2</a:t>
            </a:r>
          </a:p>
        </p:txBody>
      </p:sp>
      <p:sp>
        <p:nvSpPr>
          <p:cNvPr id="38" name="Rounded Rectangle 37"/>
          <p:cNvSpPr/>
          <p:nvPr/>
        </p:nvSpPr>
        <p:spPr>
          <a:xfrm>
            <a:off x="9052560" y="4846320"/>
            <a:ext cx="2651760" cy="1143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235440" y="4937760"/>
            <a:ext cx="2286000" cy="1005840"/>
          </a:xfrm>
          <a:prstGeom prst="rect">
            <a:avLst/>
          </a:prstGeom>
          <a:noFill/>
        </p:spPr>
        <p:txBody>
          <a:bodyPr wrap="square" lIns="45720" tIns="27432" rIns="45720" bIns="27432" anchor="t">
            <a:spAutoFit/>
          </a:bodyPr>
          <a:lstStyle/>
          <a:p>
            <a:pPr algn="l">
              <a:spcAft>
                <a:spcPts val="100"/>
              </a:spcAft>
            </a:pPr>
            <a:r>
              <a:rPr sz="1500" b="1" i="0">
                <a:solidFill>
                  <a:srgbClr val="222B38"/>
                </a:solidFill>
                <a:latin typeface="Calibri"/>
              </a:rPr>
              <a:t>Proveedor PSE (SUNAT)</a:t>
            </a:r>
          </a:p>
          <a:p>
            <a:pPr algn="l">
              <a:spcAft>
                <a:spcPts val="100"/>
              </a:spcAft>
            </a:pPr>
            <a:r>
              <a:rPr sz="1300" b="0" i="0">
                <a:solidFill>
                  <a:srgbClr val="5A6475"/>
                </a:solidFill>
                <a:latin typeface="Calibri"/>
              </a:rPr>
              <a:t>Comprobantes electrónicos</a:t>
            </a:r>
          </a:p>
          <a:p>
            <a:pPr algn="l">
              <a:spcAft>
                <a:spcPts val="100"/>
              </a:spcAft>
            </a:pPr>
            <a:r>
              <a:rPr sz="1200" b="1" i="0">
                <a:solidFill>
                  <a:srgbClr val="B8336A"/>
                </a:solidFill>
                <a:latin typeface="Calibri"/>
              </a:rPr>
              <a:t>Futuro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8229600" cy="320040"/>
          </a:xfrm>
          <a:prstGeom prst="rect">
            <a:avLst/>
          </a:prstGeom>
          <a:noFill/>
        </p:spPr>
        <p:txBody>
          <a:bodyPr wrap="square" lIns="45720" tIns="27432" rIns="45720" bIns="27432" anchor="t">
            <a:spAutoFit/>
          </a:bodyPr>
          <a:lstStyle/>
          <a:p>
            <a:pPr algn="l">
              <a:spcAft>
                <a:spcPts val="400"/>
              </a:spcAft>
            </a:pPr>
            <a:r>
              <a:rPr sz="1200" b="1" i="0">
                <a:solidFill>
                  <a:srgbClr val="B8336A"/>
                </a:solidFill>
                <a:latin typeface="Calibri"/>
              </a:rPr>
              <a:t>DE LOS REQUISITOS A LA ARQUITECTURA</a:t>
            </a:r>
          </a:p>
        </p:txBody>
      </p:sp>
      <p:sp>
        <p:nvSpPr>
          <p:cNvPr id="3" name="TextBox 2"/>
          <p:cNvSpPr txBox="1"/>
          <p:nvPr/>
        </p:nvSpPr>
        <p:spPr>
          <a:xfrm>
            <a:off x="548640" y="566928"/>
            <a:ext cx="11155680" cy="731520"/>
          </a:xfrm>
          <a:prstGeom prst="rect">
            <a:avLst/>
          </a:prstGeom>
          <a:noFill/>
        </p:spPr>
        <p:txBody>
          <a:bodyPr wrap="square" lIns="45720" tIns="27432" rIns="45720" bIns="27432" anchor="t">
            <a:spAutoFit/>
          </a:bodyPr>
          <a:lstStyle/>
          <a:p>
            <a:pPr algn="l">
              <a:spcAft>
                <a:spcPts val="400"/>
              </a:spcAft>
            </a:pPr>
            <a:r>
              <a:rPr sz="3200" b="1" i="0">
                <a:solidFill>
                  <a:srgbClr val="1F3B66"/>
                </a:solidFill>
                <a:latin typeface="Calibri"/>
              </a:rPr>
              <a:t>Lo que obliga a decidir: drivers arquitectónicos</a:t>
            </a:r>
          </a:p>
        </p:txBody>
      </p:sp>
      <p:sp>
        <p:nvSpPr>
          <p:cNvPr id="4" name="TextBox 3"/>
          <p:cNvSpPr txBox="1"/>
          <p:nvPr/>
        </p:nvSpPr>
        <p:spPr>
          <a:xfrm>
            <a:off x="548640" y="6419088"/>
            <a:ext cx="5486400" cy="274320"/>
          </a:xfrm>
          <a:prstGeom prst="rect">
            <a:avLst/>
          </a:prstGeom>
          <a:noFill/>
        </p:spPr>
        <p:txBody>
          <a:bodyPr wrap="square" lIns="45720" tIns="27432" rIns="45720" bIns="27432" anchor="t">
            <a:spAutoFit/>
          </a:bodyPr>
          <a:lstStyle/>
          <a:p>
            <a:pPr algn="l">
              <a:spcAft>
                <a:spcPts val="400"/>
              </a:spcAft>
            </a:pPr>
            <a:r>
              <a:rPr sz="1000" b="0" i="0">
                <a:solidFill>
                  <a:srgbClr val="5A6475"/>
                </a:solidFill>
                <a:latin typeface="Calibri"/>
              </a:rPr>
              <a:t>AnyColor Salón · Primer sprint</a:t>
            </a:r>
          </a:p>
        </p:txBody>
      </p:sp>
      <p:sp>
        <p:nvSpPr>
          <p:cNvPr id="5" name="TextBox 4"/>
          <p:cNvSpPr txBox="1"/>
          <p:nvPr/>
        </p:nvSpPr>
        <p:spPr>
          <a:xfrm>
            <a:off x="10698480" y="6419088"/>
            <a:ext cx="1005840" cy="274320"/>
          </a:xfrm>
          <a:prstGeom prst="rect">
            <a:avLst/>
          </a:prstGeom>
          <a:noFill/>
        </p:spPr>
        <p:txBody>
          <a:bodyPr wrap="square" lIns="45720" tIns="27432" rIns="45720" bIns="27432" anchor="t">
            <a:spAutoFit/>
          </a:bodyPr>
          <a:lstStyle/>
          <a:p>
            <a:pPr algn="r">
              <a:spcAft>
                <a:spcPts val="400"/>
              </a:spcAft>
            </a:pPr>
            <a:r>
              <a:rPr sz="1000" b="0" i="0">
                <a:solidFill>
                  <a:srgbClr val="5A6475"/>
                </a:solidFill>
                <a:latin typeface="Calibri"/>
              </a:rPr>
              <a:t>4 / 14</a:t>
            </a:r>
          </a:p>
        </p:txBody>
      </p:sp>
      <p:graphicFrame>
        <p:nvGraphicFramePr>
          <p:cNvPr id="6" name="Table 5"/>
          <p:cNvGraphicFramePr>
            <a:graphicFrameLocks noGrp="1"/>
          </p:cNvGraphicFramePr>
          <p:nvPr/>
        </p:nvGraphicFramePr>
        <p:xfrm>
          <a:off x="548640" y="1463040"/>
          <a:ext cx="11109960" cy="4023360"/>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tblGrid>
              <a:tr h="670560">
                <a:tc>
                  <a:txBody>
                    <a:bodyPr/>
                    <a:lstStyle/>
                    <a:p>
                      <a:r>
                        <a:rPr sz="1400" b="1">
                          <a:solidFill>
                            <a:srgbClr val="FFFFFF"/>
                          </a:solidFill>
                          <a:latin typeface="Calibri"/>
                        </a:rPr>
                        <a:t>Driver</a:t>
                      </a:r>
                    </a:p>
                  </a:txBody>
                  <a:tcPr marL="73152" marR="73152" anchor="ctr">
                    <a:solidFill>
                      <a:srgbClr val="1F3B66"/>
                    </a:solidFill>
                  </a:tcPr>
                </a:tc>
                <a:tc>
                  <a:txBody>
                    <a:bodyPr/>
                    <a:lstStyle/>
                    <a:p>
                      <a:r>
                        <a:rPr sz="1400" b="1">
                          <a:solidFill>
                            <a:srgbClr val="FFFFFF"/>
                          </a:solidFill>
                          <a:latin typeface="Calibri"/>
                        </a:rPr>
                        <a:t>Necesidad</a:t>
                      </a:r>
                    </a:p>
                  </a:txBody>
                  <a:tcPr marL="73152" marR="73152" anchor="ctr">
                    <a:solidFill>
                      <a:srgbClr val="1F3B66"/>
                    </a:solidFill>
                  </a:tcPr>
                </a:tc>
                <a:tc>
                  <a:txBody>
                    <a:bodyPr/>
                    <a:lstStyle/>
                    <a:p>
                      <a:r>
                        <a:rPr sz="1400" b="1">
                          <a:solidFill>
                            <a:srgbClr val="FFFFFF"/>
                          </a:solidFill>
                          <a:latin typeface="Calibri"/>
                        </a:rPr>
                        <a:t>Sale de</a:t>
                      </a:r>
                    </a:p>
                  </a:txBody>
                  <a:tcPr marL="73152" marR="73152" anchor="ctr">
                    <a:solidFill>
                      <a:srgbClr val="1F3B66"/>
                    </a:solidFill>
                  </a:tcPr>
                </a:tc>
                <a:tc>
                  <a:txBody>
                    <a:bodyPr/>
                    <a:lstStyle/>
                    <a:p>
                      <a:r>
                        <a:rPr sz="1400" b="1">
                          <a:solidFill>
                            <a:srgbClr val="FFFFFF"/>
                          </a:solidFill>
                          <a:latin typeface="Calibri"/>
                        </a:rPr>
                        <a:t>Decisión</a:t>
                      </a:r>
                    </a:p>
                  </a:txBody>
                  <a:tcPr marL="73152" marR="73152" anchor="ctr">
                    <a:solidFill>
                      <a:srgbClr val="1F3B66"/>
                    </a:solidFill>
                  </a:tcPr>
                </a:tc>
                <a:tc>
                  <a:txBody>
                    <a:bodyPr/>
                    <a:lstStyle/>
                    <a:p>
                      <a:r>
                        <a:rPr sz="1400" b="1">
                          <a:solidFill>
                            <a:srgbClr val="FFFFFF"/>
                          </a:solidFill>
                          <a:latin typeface="Calibri"/>
                        </a:rPr>
                        <a:t>ADR</a:t>
                      </a:r>
                    </a:p>
                  </a:txBody>
                  <a:tcPr marL="73152" marR="73152" anchor="ctr">
                    <a:solidFill>
                      <a:srgbClr val="1F3B66"/>
                    </a:solidFill>
                  </a:tcPr>
                </a:tc>
                <a:extLst>
                  <a:ext uri="{0D108BD9-81ED-4DB2-BD59-A6C34878D82A}">
                    <a16:rowId xmlns:a16="http://schemas.microsoft.com/office/drawing/2014/main" val="10000"/>
                  </a:ext>
                </a:extLst>
              </a:tr>
              <a:tr h="670560">
                <a:tc>
                  <a:txBody>
                    <a:bodyPr/>
                    <a:lstStyle/>
                    <a:p>
                      <a:r>
                        <a:rPr sz="1400" b="1">
                          <a:solidFill>
                            <a:srgbClr val="B8336A"/>
                          </a:solidFill>
                          <a:latin typeface="Calibri"/>
                        </a:rPr>
                        <a:t>DA01</a:t>
                      </a:r>
                    </a:p>
                  </a:txBody>
                  <a:tcPr marL="73152" marR="73152" anchor="ctr">
                    <a:solidFill>
                      <a:srgbClr val="FBF0F4"/>
                    </a:solidFill>
                  </a:tcPr>
                </a:tc>
                <a:tc>
                  <a:txBody>
                    <a:bodyPr/>
                    <a:lstStyle/>
                    <a:p>
                      <a:r>
                        <a:rPr sz="1400" b="0">
                          <a:solidFill>
                            <a:srgbClr val="222B38"/>
                          </a:solidFill>
                          <a:latin typeface="Calibri"/>
                        </a:rPr>
                        <a:t>Reservas sin cruces con muchas clientas a la vez</a:t>
                      </a:r>
                    </a:p>
                  </a:txBody>
                  <a:tcPr marL="73152" marR="73152" anchor="ctr">
                    <a:solidFill>
                      <a:srgbClr val="FBF0F4"/>
                    </a:solidFill>
                  </a:tcPr>
                </a:tc>
                <a:tc>
                  <a:txBody>
                    <a:bodyPr/>
                    <a:lstStyle/>
                    <a:p>
                      <a:r>
                        <a:rPr sz="1400" b="0">
                          <a:solidFill>
                            <a:srgbClr val="222B38"/>
                          </a:solidFill>
                          <a:latin typeface="Calibri"/>
                        </a:rPr>
                        <a:t>RF07 · AC05</a:t>
                      </a:r>
                    </a:p>
                  </a:txBody>
                  <a:tcPr marL="73152" marR="73152" anchor="ctr">
                    <a:solidFill>
                      <a:srgbClr val="FBF0F4"/>
                    </a:solidFill>
                  </a:tcPr>
                </a:tc>
                <a:tc>
                  <a:txBody>
                    <a:bodyPr/>
                    <a:lstStyle/>
                    <a:p>
                      <a:r>
                        <a:rPr sz="1400" b="0">
                          <a:solidFill>
                            <a:srgbClr val="222B38"/>
                          </a:solidFill>
                          <a:latin typeface="Calibri"/>
                        </a:rPr>
                        <a:t>Bloqueo de 5 min en Redis + restricción EXCLUDE en PostgreSQL</a:t>
                      </a:r>
                    </a:p>
                  </a:txBody>
                  <a:tcPr marL="73152" marR="73152" anchor="ctr">
                    <a:solidFill>
                      <a:srgbClr val="FBF0F4"/>
                    </a:solidFill>
                  </a:tcPr>
                </a:tc>
                <a:tc>
                  <a:txBody>
                    <a:bodyPr/>
                    <a:lstStyle/>
                    <a:p>
                      <a:r>
                        <a:rPr sz="1400" b="0">
                          <a:solidFill>
                            <a:srgbClr val="222B38"/>
                          </a:solidFill>
                          <a:latin typeface="Calibri"/>
                        </a:rPr>
                        <a:t>ADR-003/004</a:t>
                      </a:r>
                    </a:p>
                  </a:txBody>
                  <a:tcPr marL="73152" marR="73152" anchor="ctr">
                    <a:solidFill>
                      <a:srgbClr val="FBF0F4"/>
                    </a:solidFill>
                  </a:tcPr>
                </a:tc>
                <a:extLst>
                  <a:ext uri="{0D108BD9-81ED-4DB2-BD59-A6C34878D82A}">
                    <a16:rowId xmlns:a16="http://schemas.microsoft.com/office/drawing/2014/main" val="10001"/>
                  </a:ext>
                </a:extLst>
              </a:tr>
              <a:tr h="670560">
                <a:tc>
                  <a:txBody>
                    <a:bodyPr/>
                    <a:lstStyle/>
                    <a:p>
                      <a:r>
                        <a:rPr sz="1400" b="1">
                          <a:solidFill>
                            <a:srgbClr val="B8336A"/>
                          </a:solidFill>
                          <a:latin typeface="Calibri"/>
                        </a:rPr>
                        <a:t>DA02</a:t>
                      </a:r>
                    </a:p>
                  </a:txBody>
                  <a:tcPr marL="73152" marR="73152" anchor="ctr">
                    <a:solidFill>
                      <a:srgbClr val="F3F5F9"/>
                    </a:solidFill>
                  </a:tcPr>
                </a:tc>
                <a:tc>
                  <a:txBody>
                    <a:bodyPr/>
                    <a:lstStyle/>
                    <a:p>
                      <a:r>
                        <a:rPr sz="1400" b="0">
                          <a:solidFill>
                            <a:srgbClr val="222B38"/>
                          </a:solidFill>
                          <a:latin typeface="Calibri"/>
                        </a:rPr>
                        <a:t>Más de 10 000 usuarios y más sedes</a:t>
                      </a:r>
                    </a:p>
                  </a:txBody>
                  <a:tcPr marL="73152" marR="73152" anchor="ctr">
                    <a:solidFill>
                      <a:srgbClr val="F3F5F9"/>
                    </a:solidFill>
                  </a:tcPr>
                </a:tc>
                <a:tc>
                  <a:txBody>
                    <a:bodyPr/>
                    <a:lstStyle/>
                    <a:p>
                      <a:r>
                        <a:rPr sz="1400" b="0">
                          <a:solidFill>
                            <a:srgbClr val="222B38"/>
                          </a:solidFill>
                          <a:latin typeface="Calibri"/>
                        </a:rPr>
                        <a:t>AC03 · RC02</a:t>
                      </a:r>
                    </a:p>
                  </a:txBody>
                  <a:tcPr marL="73152" marR="73152" anchor="ctr">
                    <a:solidFill>
                      <a:srgbClr val="F3F5F9"/>
                    </a:solidFill>
                  </a:tcPr>
                </a:tc>
                <a:tc>
                  <a:txBody>
                    <a:bodyPr/>
                    <a:lstStyle/>
                    <a:p>
                      <a:r>
                        <a:rPr sz="1400" b="0">
                          <a:solidFill>
                            <a:srgbClr val="222B38"/>
                          </a:solidFill>
                          <a:latin typeface="Calibri"/>
                        </a:rPr>
                        <a:t>API sin estado, escalable detrás de un balanceador</a:t>
                      </a:r>
                    </a:p>
                  </a:txBody>
                  <a:tcPr marL="73152" marR="73152" anchor="ctr">
                    <a:solidFill>
                      <a:srgbClr val="F3F5F9"/>
                    </a:solidFill>
                  </a:tcPr>
                </a:tc>
                <a:tc>
                  <a:txBody>
                    <a:bodyPr/>
                    <a:lstStyle/>
                    <a:p>
                      <a:r>
                        <a:rPr sz="1400" b="0">
                          <a:solidFill>
                            <a:srgbClr val="222B38"/>
                          </a:solidFill>
                          <a:latin typeface="Calibri"/>
                        </a:rPr>
                        <a:t>ADR-001</a:t>
                      </a:r>
                    </a:p>
                  </a:txBody>
                  <a:tcPr marL="73152" marR="73152" anchor="ctr">
                    <a:solidFill>
                      <a:srgbClr val="F3F5F9"/>
                    </a:solidFill>
                  </a:tcPr>
                </a:tc>
                <a:extLst>
                  <a:ext uri="{0D108BD9-81ED-4DB2-BD59-A6C34878D82A}">
                    <a16:rowId xmlns:a16="http://schemas.microsoft.com/office/drawing/2014/main" val="10002"/>
                  </a:ext>
                </a:extLst>
              </a:tr>
              <a:tr h="670560">
                <a:tc>
                  <a:txBody>
                    <a:bodyPr/>
                    <a:lstStyle/>
                    <a:p>
                      <a:r>
                        <a:rPr sz="1400" b="1">
                          <a:solidFill>
                            <a:srgbClr val="B8336A"/>
                          </a:solidFill>
                          <a:latin typeface="Calibri"/>
                        </a:rPr>
                        <a:t>DA03</a:t>
                      </a:r>
                    </a:p>
                  </a:txBody>
                  <a:tcPr marL="73152" marR="73152" anchor="ctr">
                    <a:solidFill>
                      <a:srgbClr val="FFFFFF"/>
                    </a:solidFill>
                  </a:tcPr>
                </a:tc>
                <a:tc>
                  <a:txBody>
                    <a:bodyPr/>
                    <a:lstStyle/>
                    <a:p>
                      <a:r>
                        <a:rPr sz="1400" b="0">
                          <a:solidFill>
                            <a:srgbClr val="222B38"/>
                          </a:solidFill>
                          <a:latin typeface="Calibri"/>
                        </a:rPr>
                        <a:t>Caja, ventas e inventario consistentes</a:t>
                      </a:r>
                    </a:p>
                  </a:txBody>
                  <a:tcPr marL="73152" marR="73152" anchor="ctr">
                    <a:solidFill>
                      <a:srgbClr val="FFFFFF"/>
                    </a:solidFill>
                  </a:tcPr>
                </a:tc>
                <a:tc>
                  <a:txBody>
                    <a:bodyPr/>
                    <a:lstStyle/>
                    <a:p>
                      <a:r>
                        <a:rPr sz="1400" b="0">
                          <a:solidFill>
                            <a:srgbClr val="222B38"/>
                          </a:solidFill>
                          <a:latin typeface="Calibri"/>
                        </a:rPr>
                        <a:t>AC05 · RC03</a:t>
                      </a:r>
                    </a:p>
                  </a:txBody>
                  <a:tcPr marL="73152" marR="73152" anchor="ctr">
                    <a:solidFill>
                      <a:srgbClr val="FFFFFF"/>
                    </a:solidFill>
                  </a:tcPr>
                </a:tc>
                <a:tc>
                  <a:txBody>
                    <a:bodyPr/>
                    <a:lstStyle/>
                    <a:p>
                      <a:r>
                        <a:rPr sz="1400" b="0">
                          <a:solidFill>
                            <a:srgbClr val="222B38"/>
                          </a:solidFill>
                          <a:latin typeface="Calibri"/>
                        </a:rPr>
                        <a:t>Transacciones ACID + idempotencia en cobros</a:t>
                      </a:r>
                    </a:p>
                  </a:txBody>
                  <a:tcPr marL="73152" marR="73152" anchor="ctr">
                    <a:solidFill>
                      <a:srgbClr val="FFFFFF"/>
                    </a:solidFill>
                  </a:tcPr>
                </a:tc>
                <a:tc>
                  <a:txBody>
                    <a:bodyPr/>
                    <a:lstStyle/>
                    <a:p>
                      <a:r>
                        <a:rPr sz="1400" b="0">
                          <a:solidFill>
                            <a:srgbClr val="222B38"/>
                          </a:solidFill>
                          <a:latin typeface="Calibri"/>
                        </a:rPr>
                        <a:t>ADR-008</a:t>
                      </a:r>
                    </a:p>
                  </a:txBody>
                  <a:tcPr marL="73152" marR="73152" anchor="ctr">
                    <a:solidFill>
                      <a:srgbClr val="FFFFFF"/>
                    </a:solidFill>
                  </a:tcPr>
                </a:tc>
                <a:extLst>
                  <a:ext uri="{0D108BD9-81ED-4DB2-BD59-A6C34878D82A}">
                    <a16:rowId xmlns:a16="http://schemas.microsoft.com/office/drawing/2014/main" val="10003"/>
                  </a:ext>
                </a:extLst>
              </a:tr>
              <a:tr h="670560">
                <a:tc>
                  <a:txBody>
                    <a:bodyPr/>
                    <a:lstStyle/>
                    <a:p>
                      <a:r>
                        <a:rPr sz="1400" b="1">
                          <a:solidFill>
                            <a:srgbClr val="B8336A"/>
                          </a:solidFill>
                          <a:latin typeface="Calibri"/>
                        </a:rPr>
                        <a:t>DA04</a:t>
                      </a:r>
                    </a:p>
                  </a:txBody>
                  <a:tcPr marL="73152" marR="73152" anchor="ctr">
                    <a:solidFill>
                      <a:srgbClr val="F3F5F9"/>
                    </a:solidFill>
                  </a:tcPr>
                </a:tc>
                <a:tc>
                  <a:txBody>
                    <a:bodyPr/>
                    <a:lstStyle/>
                    <a:p>
                      <a:r>
                        <a:rPr sz="1400" b="0">
                          <a:solidFill>
                            <a:srgbClr val="222B38"/>
                          </a:solidFill>
                          <a:latin typeface="Calibri"/>
                        </a:rPr>
                        <a:t>Cada usuario ve solo su sede</a:t>
                      </a:r>
                    </a:p>
                  </a:txBody>
                  <a:tcPr marL="73152" marR="73152" anchor="ctr">
                    <a:solidFill>
                      <a:srgbClr val="F3F5F9"/>
                    </a:solidFill>
                  </a:tcPr>
                </a:tc>
                <a:tc>
                  <a:txBody>
                    <a:bodyPr/>
                    <a:lstStyle/>
                    <a:p>
                      <a:r>
                        <a:rPr sz="1400" b="0">
                          <a:solidFill>
                            <a:srgbClr val="222B38"/>
                          </a:solidFill>
                          <a:latin typeface="Calibri"/>
                        </a:rPr>
                        <a:t>AC04 · RC02</a:t>
                      </a:r>
                    </a:p>
                  </a:txBody>
                  <a:tcPr marL="73152" marR="73152" anchor="ctr">
                    <a:solidFill>
                      <a:srgbClr val="F3F5F9"/>
                    </a:solidFill>
                  </a:tcPr>
                </a:tc>
                <a:tc>
                  <a:txBody>
                    <a:bodyPr/>
                    <a:lstStyle/>
                    <a:p>
                      <a:r>
                        <a:rPr sz="1400" b="0">
                          <a:solidFill>
                            <a:srgbClr val="222B38"/>
                          </a:solidFill>
                          <a:latin typeface="Calibri"/>
                        </a:rPr>
                        <a:t>JWT + RBAC con alcance por sede</a:t>
                      </a:r>
                    </a:p>
                  </a:txBody>
                  <a:tcPr marL="73152" marR="73152" anchor="ctr">
                    <a:solidFill>
                      <a:srgbClr val="F3F5F9"/>
                    </a:solidFill>
                  </a:tcPr>
                </a:tc>
                <a:tc>
                  <a:txBody>
                    <a:bodyPr/>
                    <a:lstStyle/>
                    <a:p>
                      <a:r>
                        <a:rPr sz="1400" b="0">
                          <a:solidFill>
                            <a:srgbClr val="222B38"/>
                          </a:solidFill>
                          <a:latin typeface="Calibri"/>
                        </a:rPr>
                        <a:t>ADR-005</a:t>
                      </a:r>
                    </a:p>
                  </a:txBody>
                  <a:tcPr marL="73152" marR="73152" anchor="ctr">
                    <a:solidFill>
                      <a:srgbClr val="F3F5F9"/>
                    </a:solidFill>
                  </a:tcPr>
                </a:tc>
                <a:extLst>
                  <a:ext uri="{0D108BD9-81ED-4DB2-BD59-A6C34878D82A}">
                    <a16:rowId xmlns:a16="http://schemas.microsoft.com/office/drawing/2014/main" val="10004"/>
                  </a:ext>
                </a:extLst>
              </a:tr>
              <a:tr h="670560">
                <a:tc>
                  <a:txBody>
                    <a:bodyPr/>
                    <a:lstStyle/>
                    <a:p>
                      <a:r>
                        <a:rPr sz="1400" b="1">
                          <a:solidFill>
                            <a:srgbClr val="B8336A"/>
                          </a:solidFill>
                          <a:latin typeface="Calibri"/>
                        </a:rPr>
                        <a:t>DA06</a:t>
                      </a:r>
                    </a:p>
                  </a:txBody>
                  <a:tcPr marL="73152" marR="73152" anchor="ctr">
                    <a:solidFill>
                      <a:srgbClr val="FFFFFF"/>
                    </a:solidFill>
                  </a:tcPr>
                </a:tc>
                <a:tc>
                  <a:txBody>
                    <a:bodyPr/>
                    <a:lstStyle/>
                    <a:p>
                      <a:r>
                        <a:rPr sz="1400" b="0">
                          <a:solidFill>
                            <a:srgbClr val="222B38"/>
                          </a:solidFill>
                          <a:latin typeface="Calibri"/>
                        </a:rPr>
                        <a:t>Cambiar proveedores sin romper el negocio</a:t>
                      </a:r>
                    </a:p>
                  </a:txBody>
                  <a:tcPr marL="73152" marR="73152" anchor="ctr">
                    <a:solidFill>
                      <a:srgbClr val="FFFFFF"/>
                    </a:solidFill>
                  </a:tcPr>
                </a:tc>
                <a:tc>
                  <a:txBody>
                    <a:bodyPr/>
                    <a:lstStyle/>
                    <a:p>
                      <a:r>
                        <a:rPr sz="1400" b="0">
                          <a:solidFill>
                            <a:srgbClr val="222B38"/>
                          </a:solidFill>
                          <a:latin typeface="Calibri"/>
                        </a:rPr>
                        <a:t>AC07</a:t>
                      </a:r>
                    </a:p>
                  </a:txBody>
                  <a:tcPr marL="73152" marR="73152" anchor="ctr">
                    <a:solidFill>
                      <a:srgbClr val="FFFFFF"/>
                    </a:solidFill>
                  </a:tcPr>
                </a:tc>
                <a:tc>
                  <a:txBody>
                    <a:bodyPr/>
                    <a:lstStyle/>
                    <a:p>
                      <a:r>
                        <a:rPr sz="1400" b="0">
                          <a:solidFill>
                            <a:srgbClr val="222B38"/>
                          </a:solidFill>
                          <a:latin typeface="Calibri"/>
                        </a:rPr>
                        <a:t>Clean Architecture con puertos y adaptadores</a:t>
                      </a:r>
                    </a:p>
                  </a:txBody>
                  <a:tcPr marL="73152" marR="73152" anchor="ctr">
                    <a:solidFill>
                      <a:srgbClr val="FFFFFF"/>
                    </a:solidFill>
                  </a:tcPr>
                </a:tc>
                <a:tc>
                  <a:txBody>
                    <a:bodyPr/>
                    <a:lstStyle/>
                    <a:p>
                      <a:r>
                        <a:rPr sz="1400" b="0">
                          <a:solidFill>
                            <a:srgbClr val="222B38"/>
                          </a:solidFill>
                          <a:latin typeface="Calibri"/>
                        </a:rPr>
                        <a:t>ADR-002/006</a:t>
                      </a:r>
                    </a:p>
                  </a:txBody>
                  <a:tcPr marL="73152" marR="73152" anchor="ctr">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548640" y="5669280"/>
            <a:ext cx="11109960" cy="59436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5733288"/>
            <a:ext cx="10789920" cy="457200"/>
          </a:xfrm>
          <a:prstGeom prst="rect">
            <a:avLst/>
          </a:prstGeom>
          <a:noFill/>
        </p:spPr>
        <p:txBody>
          <a:bodyPr wrap="square" lIns="45720" tIns="27432" rIns="45720" bIns="27432" anchor="t">
            <a:spAutoFit/>
          </a:bodyPr>
          <a:lstStyle/>
          <a:p>
            <a:pPr algn="l">
              <a:spcAft>
                <a:spcPts val="400"/>
              </a:spcAft>
            </a:pPr>
            <a:r>
              <a:rPr sz="1500" b="1" i="0">
                <a:solidFill>
                  <a:srgbClr val="1F3B66"/>
                </a:solidFill>
                <a:latin typeface="Calibri"/>
              </a:rPr>
              <a:t>Escenario medible EQ-05: </a:t>
            </a:r>
            <a:r>
              <a:rPr sz="1500" b="0" i="0">
                <a:solidFill>
                  <a:srgbClr val="222B38"/>
                </a:solidFill>
                <a:latin typeface="Calibri"/>
              </a:rPr>
              <a:t>0 citas solapadas por estilista o sillón. Verificado con 16 pruebas automatizadas del núcleo.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8229600" cy="320040"/>
          </a:xfrm>
          <a:prstGeom prst="rect">
            <a:avLst/>
          </a:prstGeom>
          <a:noFill/>
        </p:spPr>
        <p:txBody>
          <a:bodyPr wrap="square" lIns="45720" tIns="27432" rIns="45720" bIns="27432" anchor="t">
            <a:spAutoFit/>
          </a:bodyPr>
          <a:lstStyle/>
          <a:p>
            <a:pPr algn="l">
              <a:spcAft>
                <a:spcPts val="400"/>
              </a:spcAft>
            </a:pPr>
            <a:r>
              <a:rPr sz="1200" b="1" i="0">
                <a:solidFill>
                  <a:srgbClr val="B8336A"/>
                </a:solidFill>
                <a:latin typeface="Calibri"/>
              </a:rPr>
              <a:t>ARQUITECTURA · ENFOQUE</a:t>
            </a:r>
          </a:p>
        </p:txBody>
      </p:sp>
      <p:sp>
        <p:nvSpPr>
          <p:cNvPr id="3" name="TextBox 2"/>
          <p:cNvSpPr txBox="1"/>
          <p:nvPr/>
        </p:nvSpPr>
        <p:spPr>
          <a:xfrm>
            <a:off x="548640" y="566928"/>
            <a:ext cx="11155680" cy="731520"/>
          </a:xfrm>
          <a:prstGeom prst="rect">
            <a:avLst/>
          </a:prstGeom>
          <a:noFill/>
        </p:spPr>
        <p:txBody>
          <a:bodyPr wrap="square" lIns="45720" tIns="27432" rIns="45720" bIns="27432" anchor="t">
            <a:spAutoFit/>
          </a:bodyPr>
          <a:lstStyle/>
          <a:p>
            <a:pPr algn="l">
              <a:spcAft>
                <a:spcPts val="400"/>
              </a:spcAft>
            </a:pPr>
            <a:r>
              <a:rPr sz="3200" b="1" i="0">
                <a:solidFill>
                  <a:srgbClr val="1F3B66"/>
                </a:solidFill>
                <a:latin typeface="Calibri"/>
              </a:rPr>
              <a:t>Enfoque: Clean Architecture dentro de cada módulo</a:t>
            </a:r>
          </a:p>
        </p:txBody>
      </p:sp>
      <p:sp>
        <p:nvSpPr>
          <p:cNvPr id="4" name="TextBox 3"/>
          <p:cNvSpPr txBox="1"/>
          <p:nvPr/>
        </p:nvSpPr>
        <p:spPr>
          <a:xfrm>
            <a:off x="548640" y="6419088"/>
            <a:ext cx="5486400" cy="274320"/>
          </a:xfrm>
          <a:prstGeom prst="rect">
            <a:avLst/>
          </a:prstGeom>
          <a:noFill/>
        </p:spPr>
        <p:txBody>
          <a:bodyPr wrap="square" lIns="45720" tIns="27432" rIns="45720" bIns="27432" anchor="t">
            <a:spAutoFit/>
          </a:bodyPr>
          <a:lstStyle/>
          <a:p>
            <a:pPr algn="l">
              <a:spcAft>
                <a:spcPts val="400"/>
              </a:spcAft>
            </a:pPr>
            <a:r>
              <a:rPr sz="1000" b="0" i="0">
                <a:solidFill>
                  <a:srgbClr val="5A6475"/>
                </a:solidFill>
                <a:latin typeface="Calibri"/>
              </a:rPr>
              <a:t>AnyColor Salón · Primer sprint</a:t>
            </a:r>
          </a:p>
        </p:txBody>
      </p:sp>
      <p:sp>
        <p:nvSpPr>
          <p:cNvPr id="5" name="TextBox 4"/>
          <p:cNvSpPr txBox="1"/>
          <p:nvPr/>
        </p:nvSpPr>
        <p:spPr>
          <a:xfrm>
            <a:off x="10698480" y="6419088"/>
            <a:ext cx="1005840" cy="274320"/>
          </a:xfrm>
          <a:prstGeom prst="rect">
            <a:avLst/>
          </a:prstGeom>
          <a:noFill/>
        </p:spPr>
        <p:txBody>
          <a:bodyPr wrap="square" lIns="45720" tIns="27432" rIns="45720" bIns="27432" anchor="t">
            <a:spAutoFit/>
          </a:bodyPr>
          <a:lstStyle/>
          <a:p>
            <a:pPr algn="r">
              <a:spcAft>
                <a:spcPts val="400"/>
              </a:spcAft>
            </a:pPr>
            <a:r>
              <a:rPr sz="1000" b="0" i="0">
                <a:solidFill>
                  <a:srgbClr val="5A6475"/>
                </a:solidFill>
                <a:latin typeface="Calibri"/>
              </a:rPr>
              <a:t>5 / 14</a:t>
            </a:r>
          </a:p>
        </p:txBody>
      </p:sp>
      <p:pic>
        <p:nvPicPr>
          <p:cNvPr id="6" name="Picture 5" descr="image.png"/>
          <p:cNvPicPr>
            <a:picLocks noChangeAspect="1"/>
          </p:cNvPicPr>
          <p:nvPr/>
        </p:nvPicPr>
        <p:blipFill>
          <a:blip r:embed="rId3"/>
          <a:stretch>
            <a:fillRect/>
          </a:stretch>
        </p:blipFill>
        <p:spPr>
          <a:xfrm>
            <a:off x="729329" y="1417320"/>
            <a:ext cx="4759260" cy="4846320"/>
          </a:xfrm>
          <a:prstGeom prst="rect">
            <a:avLst/>
          </a:prstGeom>
          <a:ln w="9525">
            <a:solidFill>
              <a:srgbClr val="D5DBE5"/>
            </a:solidFill>
          </a:ln>
        </p:spPr>
      </p:pic>
      <p:sp>
        <p:nvSpPr>
          <p:cNvPr id="7" name="Oval 6"/>
          <p:cNvSpPr/>
          <p:nvPr/>
        </p:nvSpPr>
        <p:spPr>
          <a:xfrm>
            <a:off x="6080760" y="1554480"/>
            <a:ext cx="457200" cy="457200"/>
          </a:xfrm>
          <a:prstGeom prst="ellipse">
            <a:avLst/>
          </a:prstGeom>
          <a:solidFill>
            <a:srgbClr val="B8336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1</a:t>
            </a:r>
          </a:p>
        </p:txBody>
      </p:sp>
      <p:sp>
        <p:nvSpPr>
          <p:cNvPr id="8" name="TextBox 7"/>
          <p:cNvSpPr txBox="1"/>
          <p:nvPr/>
        </p:nvSpPr>
        <p:spPr>
          <a:xfrm>
            <a:off x="6720840" y="1463040"/>
            <a:ext cx="4937760" cy="1097280"/>
          </a:xfrm>
          <a:prstGeom prst="rect">
            <a:avLst/>
          </a:prstGeom>
          <a:noFill/>
        </p:spPr>
        <p:txBody>
          <a:bodyPr wrap="square" lIns="45720" tIns="27432" rIns="45720" bIns="27432" anchor="t">
            <a:spAutoFit/>
          </a:bodyPr>
          <a:lstStyle/>
          <a:p>
            <a:pPr algn="l">
              <a:spcAft>
                <a:spcPts val="200"/>
              </a:spcAft>
            </a:pPr>
            <a:r>
              <a:rPr sz="1700" b="1" i="0">
                <a:solidFill>
                  <a:srgbClr val="1F3B66"/>
                </a:solidFill>
                <a:latin typeface="Calibri"/>
              </a:rPr>
              <a:t>Dependencias hacia el dominio</a:t>
            </a:r>
          </a:p>
          <a:p>
            <a:pPr algn="l">
              <a:spcAft>
                <a:spcPts val="200"/>
              </a:spcAft>
            </a:pPr>
            <a:r>
              <a:rPr sz="1400" b="0" i="0">
                <a:solidFill>
                  <a:srgbClr val="5A6475"/>
                </a:solidFill>
                <a:latin typeface="Calibri"/>
              </a:rPr>
              <a:t>Presentación → Aplicación → Dominio ← Infraestructura. El dominio no importa nada.</a:t>
            </a:r>
          </a:p>
        </p:txBody>
      </p:sp>
      <p:sp>
        <p:nvSpPr>
          <p:cNvPr id="9" name="Oval 8"/>
          <p:cNvSpPr/>
          <p:nvPr/>
        </p:nvSpPr>
        <p:spPr>
          <a:xfrm>
            <a:off x="6080760" y="2743200"/>
            <a:ext cx="457200" cy="457200"/>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2</a:t>
            </a:r>
          </a:p>
        </p:txBody>
      </p:sp>
      <p:sp>
        <p:nvSpPr>
          <p:cNvPr id="10" name="TextBox 9"/>
          <p:cNvSpPr txBox="1"/>
          <p:nvPr/>
        </p:nvSpPr>
        <p:spPr>
          <a:xfrm>
            <a:off x="6720840" y="2651760"/>
            <a:ext cx="4937760" cy="1097280"/>
          </a:xfrm>
          <a:prstGeom prst="rect">
            <a:avLst/>
          </a:prstGeom>
          <a:noFill/>
        </p:spPr>
        <p:txBody>
          <a:bodyPr wrap="square" lIns="45720" tIns="27432" rIns="45720" bIns="27432" anchor="t">
            <a:spAutoFit/>
          </a:bodyPr>
          <a:lstStyle/>
          <a:p>
            <a:pPr algn="l">
              <a:spcAft>
                <a:spcPts val="200"/>
              </a:spcAft>
            </a:pPr>
            <a:r>
              <a:rPr sz="1700" b="1" i="0">
                <a:solidFill>
                  <a:srgbClr val="1F3B66"/>
                </a:solidFill>
                <a:latin typeface="Calibri"/>
              </a:rPr>
              <a:t>Contratos en el dominio</a:t>
            </a:r>
          </a:p>
          <a:p>
            <a:pPr algn="l">
              <a:spcAft>
                <a:spcPts val="200"/>
              </a:spcAft>
            </a:pPr>
            <a:r>
              <a:rPr sz="1400" b="0" i="0">
                <a:solidFill>
                  <a:srgbClr val="5A6475"/>
                </a:solidFill>
                <a:latin typeface="Calibri"/>
              </a:rPr>
              <a:t>RepositorioCitas, ServicioBloqueos, ProcesadorPagos y Notificador se declaran adentro; Redis y PostgreSQL los implementan afuera.</a:t>
            </a:r>
          </a:p>
        </p:txBody>
      </p:sp>
      <p:sp>
        <p:nvSpPr>
          <p:cNvPr id="11" name="Oval 10"/>
          <p:cNvSpPr/>
          <p:nvPr/>
        </p:nvSpPr>
        <p:spPr>
          <a:xfrm>
            <a:off x="6080760" y="3931920"/>
            <a:ext cx="457200" cy="457200"/>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3</a:t>
            </a:r>
          </a:p>
        </p:txBody>
      </p:sp>
      <p:sp>
        <p:nvSpPr>
          <p:cNvPr id="12" name="TextBox 11"/>
          <p:cNvSpPr txBox="1"/>
          <p:nvPr/>
        </p:nvSpPr>
        <p:spPr>
          <a:xfrm>
            <a:off x="6720840" y="3840480"/>
            <a:ext cx="4937760" cy="1097280"/>
          </a:xfrm>
          <a:prstGeom prst="rect">
            <a:avLst/>
          </a:prstGeom>
          <a:noFill/>
        </p:spPr>
        <p:txBody>
          <a:bodyPr wrap="square" lIns="45720" tIns="27432" rIns="45720" bIns="27432" anchor="t">
            <a:spAutoFit/>
          </a:bodyPr>
          <a:lstStyle/>
          <a:p>
            <a:pPr algn="l">
              <a:spcAft>
                <a:spcPts val="200"/>
              </a:spcAft>
            </a:pPr>
            <a:r>
              <a:rPr sz="1700" b="1" i="0">
                <a:solidFill>
                  <a:srgbClr val="1F3B66"/>
                </a:solidFill>
                <a:latin typeface="Calibri"/>
              </a:rPr>
              <a:t>Casos de uso explícitos</a:t>
            </a:r>
          </a:p>
          <a:p>
            <a:pPr algn="l">
              <a:spcAft>
                <a:spcPts val="200"/>
              </a:spcAft>
            </a:pPr>
            <a:r>
              <a:rPr sz="1400" b="0" i="0">
                <a:solidFill>
                  <a:srgbClr val="5A6475"/>
                </a:solidFill>
                <a:latin typeface="Calibri"/>
              </a:rPr>
              <a:t>BloquearHorario, ConfirmarCita y RegistrarVenta orquestan las reglas sin conocer la tecnología.</a:t>
            </a:r>
          </a:p>
        </p:txBody>
      </p:sp>
      <p:sp>
        <p:nvSpPr>
          <p:cNvPr id="13" name="Oval 12"/>
          <p:cNvSpPr/>
          <p:nvPr/>
        </p:nvSpPr>
        <p:spPr>
          <a:xfrm>
            <a:off x="6080760" y="5120640"/>
            <a:ext cx="457200" cy="457200"/>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4</a:t>
            </a:r>
          </a:p>
        </p:txBody>
      </p:sp>
      <p:sp>
        <p:nvSpPr>
          <p:cNvPr id="14" name="TextBox 13"/>
          <p:cNvSpPr txBox="1"/>
          <p:nvPr/>
        </p:nvSpPr>
        <p:spPr>
          <a:xfrm>
            <a:off x="6720840" y="5029200"/>
            <a:ext cx="4937760" cy="1097280"/>
          </a:xfrm>
          <a:prstGeom prst="rect">
            <a:avLst/>
          </a:prstGeom>
          <a:noFill/>
        </p:spPr>
        <p:txBody>
          <a:bodyPr wrap="square" lIns="45720" tIns="27432" rIns="45720" bIns="27432" anchor="t">
            <a:spAutoFit/>
          </a:bodyPr>
          <a:lstStyle/>
          <a:p>
            <a:pPr algn="l">
              <a:spcAft>
                <a:spcPts val="200"/>
              </a:spcAft>
            </a:pPr>
            <a:r>
              <a:rPr sz="1700" b="1" i="0">
                <a:solidFill>
                  <a:srgbClr val="1F3B66"/>
                </a:solidFill>
                <a:latin typeface="Calibri"/>
              </a:rPr>
              <a:t>Por qué no Hexagonal</a:t>
            </a:r>
          </a:p>
          <a:p>
            <a:pPr algn="l">
              <a:spcAft>
                <a:spcPts val="200"/>
              </a:spcAft>
            </a:pPr>
            <a:r>
              <a:rPr sz="1400" b="0" i="0">
                <a:solidFill>
                  <a:srgbClr val="5A6475"/>
                </a:solidFill>
                <a:latin typeface="Calibri"/>
              </a:rPr>
              <a:t>Necesitamos la capa de aplicación separada; de Hexagonal tomamos la idea de puertos y adaptadores.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8229600" cy="320040"/>
          </a:xfrm>
          <a:prstGeom prst="rect">
            <a:avLst/>
          </a:prstGeom>
          <a:noFill/>
        </p:spPr>
        <p:txBody>
          <a:bodyPr wrap="square" lIns="45720" tIns="27432" rIns="45720" bIns="27432" anchor="t">
            <a:spAutoFit/>
          </a:bodyPr>
          <a:lstStyle/>
          <a:p>
            <a:pPr algn="l">
              <a:spcAft>
                <a:spcPts val="400"/>
              </a:spcAft>
            </a:pPr>
            <a:r>
              <a:rPr sz="1200" b="1" i="0">
                <a:solidFill>
                  <a:srgbClr val="B8336A"/>
                </a:solidFill>
                <a:latin typeface="Calibri"/>
              </a:rPr>
              <a:t>ARQUITECTURA · ENFOQUE EN EL CÓDIGO</a:t>
            </a:r>
          </a:p>
        </p:txBody>
      </p:sp>
      <p:sp>
        <p:nvSpPr>
          <p:cNvPr id="3" name="TextBox 2"/>
          <p:cNvSpPr txBox="1"/>
          <p:nvPr/>
        </p:nvSpPr>
        <p:spPr>
          <a:xfrm>
            <a:off x="548640" y="566928"/>
            <a:ext cx="11155680" cy="731520"/>
          </a:xfrm>
          <a:prstGeom prst="rect">
            <a:avLst/>
          </a:prstGeom>
          <a:noFill/>
        </p:spPr>
        <p:txBody>
          <a:bodyPr wrap="square" lIns="45720" tIns="27432" rIns="45720" bIns="27432" anchor="t">
            <a:spAutoFit/>
          </a:bodyPr>
          <a:lstStyle/>
          <a:p>
            <a:pPr algn="l">
              <a:spcAft>
                <a:spcPts val="400"/>
              </a:spcAft>
            </a:pPr>
            <a:r>
              <a:rPr sz="3200" b="1" i="0">
                <a:solidFill>
                  <a:srgbClr val="1F3B66"/>
                </a:solidFill>
                <a:latin typeface="Calibri"/>
              </a:rPr>
              <a:t>El enfoque aplicado: reservar sin cruces</a:t>
            </a:r>
          </a:p>
        </p:txBody>
      </p:sp>
      <p:sp>
        <p:nvSpPr>
          <p:cNvPr id="4" name="TextBox 3"/>
          <p:cNvSpPr txBox="1"/>
          <p:nvPr/>
        </p:nvSpPr>
        <p:spPr>
          <a:xfrm>
            <a:off x="548640" y="6419088"/>
            <a:ext cx="5486400" cy="274320"/>
          </a:xfrm>
          <a:prstGeom prst="rect">
            <a:avLst/>
          </a:prstGeom>
          <a:noFill/>
        </p:spPr>
        <p:txBody>
          <a:bodyPr wrap="square" lIns="45720" tIns="27432" rIns="45720" bIns="27432" anchor="t">
            <a:spAutoFit/>
          </a:bodyPr>
          <a:lstStyle/>
          <a:p>
            <a:pPr algn="l">
              <a:spcAft>
                <a:spcPts val="400"/>
              </a:spcAft>
            </a:pPr>
            <a:r>
              <a:rPr sz="1000" b="0" i="0">
                <a:solidFill>
                  <a:srgbClr val="5A6475"/>
                </a:solidFill>
                <a:latin typeface="Calibri"/>
              </a:rPr>
              <a:t>AnyColor Salón · Primer sprint</a:t>
            </a:r>
          </a:p>
        </p:txBody>
      </p:sp>
      <p:sp>
        <p:nvSpPr>
          <p:cNvPr id="5" name="TextBox 4"/>
          <p:cNvSpPr txBox="1"/>
          <p:nvPr/>
        </p:nvSpPr>
        <p:spPr>
          <a:xfrm>
            <a:off x="10698480" y="6419088"/>
            <a:ext cx="1005840" cy="274320"/>
          </a:xfrm>
          <a:prstGeom prst="rect">
            <a:avLst/>
          </a:prstGeom>
          <a:noFill/>
        </p:spPr>
        <p:txBody>
          <a:bodyPr wrap="square" lIns="45720" tIns="27432" rIns="45720" bIns="27432" anchor="t">
            <a:spAutoFit/>
          </a:bodyPr>
          <a:lstStyle/>
          <a:p>
            <a:pPr algn="r">
              <a:spcAft>
                <a:spcPts val="400"/>
              </a:spcAft>
            </a:pPr>
            <a:r>
              <a:rPr sz="1000" b="0" i="0">
                <a:solidFill>
                  <a:srgbClr val="5A6475"/>
                </a:solidFill>
                <a:latin typeface="Calibri"/>
              </a:rPr>
              <a:t>6 / 14</a:t>
            </a:r>
          </a:p>
        </p:txBody>
      </p:sp>
      <p:sp>
        <p:nvSpPr>
          <p:cNvPr id="6" name="Rounded Rectangle 5"/>
          <p:cNvSpPr/>
          <p:nvPr/>
        </p:nvSpPr>
        <p:spPr>
          <a:xfrm>
            <a:off x="548640" y="1508760"/>
            <a:ext cx="3383280" cy="278892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1719072"/>
            <a:ext cx="566928" cy="566928"/>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1</a:t>
            </a:r>
          </a:p>
        </p:txBody>
      </p:sp>
      <p:sp>
        <p:nvSpPr>
          <p:cNvPr id="8" name="TextBox 7"/>
          <p:cNvSpPr txBox="1"/>
          <p:nvPr/>
        </p:nvSpPr>
        <p:spPr>
          <a:xfrm>
            <a:off x="1463040" y="1737360"/>
            <a:ext cx="2377440" cy="548640"/>
          </a:xfrm>
          <a:prstGeom prst="rect">
            <a:avLst/>
          </a:prstGeom>
          <a:noFill/>
        </p:spPr>
        <p:txBody>
          <a:bodyPr wrap="square" lIns="45720" tIns="27432" rIns="45720" bIns="27432" anchor="t">
            <a:spAutoFit/>
          </a:bodyPr>
          <a:lstStyle/>
          <a:p>
            <a:pPr algn="l">
              <a:spcAft>
                <a:spcPts val="400"/>
              </a:spcAft>
            </a:pPr>
            <a:r>
              <a:rPr sz="2200" b="1" i="0">
                <a:solidFill>
                  <a:srgbClr val="1F3B66"/>
                </a:solidFill>
                <a:latin typeface="Calibri"/>
              </a:rPr>
              <a:t>Bloquear</a:t>
            </a:r>
          </a:p>
        </p:txBody>
      </p:sp>
      <p:sp>
        <p:nvSpPr>
          <p:cNvPr id="9" name="TextBox 8"/>
          <p:cNvSpPr txBox="1"/>
          <p:nvPr/>
        </p:nvSpPr>
        <p:spPr>
          <a:xfrm>
            <a:off x="777240" y="2423160"/>
            <a:ext cx="2971800" cy="365760"/>
          </a:xfrm>
          <a:prstGeom prst="rect">
            <a:avLst/>
          </a:prstGeom>
          <a:noFill/>
        </p:spPr>
        <p:txBody>
          <a:bodyPr wrap="square" lIns="45720" tIns="27432" rIns="45720" bIns="27432" anchor="t">
            <a:spAutoFit/>
          </a:bodyPr>
          <a:lstStyle/>
          <a:p>
            <a:pPr algn="l">
              <a:spcAft>
                <a:spcPts val="400"/>
              </a:spcAft>
            </a:pPr>
            <a:r>
              <a:rPr sz="1300" b="1" i="0">
                <a:solidFill>
                  <a:srgbClr val="B8336A"/>
                </a:solidFill>
                <a:latin typeface="Calibri"/>
              </a:rPr>
              <a:t>Redis · SET NX PX 300000</a:t>
            </a:r>
          </a:p>
        </p:txBody>
      </p:sp>
      <p:sp>
        <p:nvSpPr>
          <p:cNvPr id="10" name="TextBox 9"/>
          <p:cNvSpPr txBox="1"/>
          <p:nvPr/>
        </p:nvSpPr>
        <p:spPr>
          <a:xfrm>
            <a:off x="777240" y="2834640"/>
            <a:ext cx="2971800" cy="1371600"/>
          </a:xfrm>
          <a:prstGeom prst="rect">
            <a:avLst/>
          </a:prstGeom>
          <a:noFill/>
        </p:spPr>
        <p:txBody>
          <a:bodyPr wrap="square" lIns="45720" tIns="27432" rIns="45720" bIns="27432" anchor="t">
            <a:spAutoFit/>
          </a:bodyPr>
          <a:lstStyle/>
          <a:p>
            <a:pPr algn="l">
              <a:spcAft>
                <a:spcPts val="400"/>
              </a:spcAft>
            </a:pPr>
            <a:r>
              <a:rPr sz="1500" b="0" i="0">
                <a:solidFill>
                  <a:srgbClr val="222B38"/>
                </a:solidFill>
                <a:latin typeface="Calibri"/>
              </a:rPr>
              <a:t>Estilista y sillón quedan reservados 5 minutos para esa clienta. Si otra lo pide: 409.</a:t>
            </a:r>
          </a:p>
        </p:txBody>
      </p:sp>
      <p:sp>
        <p:nvSpPr>
          <p:cNvPr id="11" name="Right Arrow 10"/>
          <p:cNvSpPr/>
          <p:nvPr/>
        </p:nvSpPr>
        <p:spPr>
          <a:xfrm>
            <a:off x="4005072" y="2743200"/>
            <a:ext cx="310896" cy="292608"/>
          </a:xfrm>
          <a:prstGeom prst="rightArrow">
            <a:avLst/>
          </a:prstGeom>
          <a:solidFill>
            <a:srgbClr val="5A64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89120" y="1508760"/>
            <a:ext cx="3383280" cy="278892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617720" y="1719072"/>
            <a:ext cx="566928" cy="566928"/>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2</a:t>
            </a:r>
          </a:p>
        </p:txBody>
      </p:sp>
      <p:sp>
        <p:nvSpPr>
          <p:cNvPr id="14" name="TextBox 13"/>
          <p:cNvSpPr txBox="1"/>
          <p:nvPr/>
        </p:nvSpPr>
        <p:spPr>
          <a:xfrm>
            <a:off x="5303520" y="1737360"/>
            <a:ext cx="2377440" cy="548640"/>
          </a:xfrm>
          <a:prstGeom prst="rect">
            <a:avLst/>
          </a:prstGeom>
          <a:noFill/>
        </p:spPr>
        <p:txBody>
          <a:bodyPr wrap="square" lIns="45720" tIns="27432" rIns="45720" bIns="27432" anchor="t">
            <a:spAutoFit/>
          </a:bodyPr>
          <a:lstStyle/>
          <a:p>
            <a:pPr algn="l">
              <a:spcAft>
                <a:spcPts val="400"/>
              </a:spcAft>
            </a:pPr>
            <a:r>
              <a:rPr sz="2200" b="1" i="0">
                <a:solidFill>
                  <a:srgbClr val="1F3B66"/>
                </a:solidFill>
                <a:latin typeface="Calibri"/>
              </a:rPr>
              <a:t>Confirmar</a:t>
            </a:r>
          </a:p>
        </p:txBody>
      </p:sp>
      <p:sp>
        <p:nvSpPr>
          <p:cNvPr id="15" name="TextBox 14"/>
          <p:cNvSpPr txBox="1"/>
          <p:nvPr/>
        </p:nvSpPr>
        <p:spPr>
          <a:xfrm>
            <a:off x="4617720" y="2423160"/>
            <a:ext cx="2971800" cy="365760"/>
          </a:xfrm>
          <a:prstGeom prst="rect">
            <a:avLst/>
          </a:prstGeom>
          <a:noFill/>
        </p:spPr>
        <p:txBody>
          <a:bodyPr wrap="square" lIns="45720" tIns="27432" rIns="45720" bIns="27432" anchor="t">
            <a:spAutoFit/>
          </a:bodyPr>
          <a:lstStyle/>
          <a:p>
            <a:pPr algn="l">
              <a:spcAft>
                <a:spcPts val="400"/>
              </a:spcAft>
            </a:pPr>
            <a:r>
              <a:rPr sz="1300" b="1" i="0">
                <a:solidFill>
                  <a:srgbClr val="B8336A"/>
                </a:solidFill>
                <a:latin typeface="Calibri"/>
              </a:rPr>
              <a:t>ConfirmarCitaCasoUso</a:t>
            </a:r>
          </a:p>
        </p:txBody>
      </p:sp>
      <p:sp>
        <p:nvSpPr>
          <p:cNvPr id="16" name="TextBox 15"/>
          <p:cNvSpPr txBox="1"/>
          <p:nvPr/>
        </p:nvSpPr>
        <p:spPr>
          <a:xfrm>
            <a:off x="4617720" y="2834640"/>
            <a:ext cx="2971800" cy="1371600"/>
          </a:xfrm>
          <a:prstGeom prst="rect">
            <a:avLst/>
          </a:prstGeom>
          <a:noFill/>
        </p:spPr>
        <p:txBody>
          <a:bodyPr wrap="square" lIns="45720" tIns="27432" rIns="45720" bIns="27432" anchor="t">
            <a:spAutoFit/>
          </a:bodyPr>
          <a:lstStyle/>
          <a:p>
            <a:pPr algn="l">
              <a:spcAft>
                <a:spcPts val="400"/>
              </a:spcAft>
            </a:pPr>
            <a:r>
              <a:rPr sz="1500" b="0" i="0">
                <a:solidFill>
                  <a:srgbClr val="222B38"/>
                </a:solidFill>
                <a:latin typeface="Calibri"/>
              </a:rPr>
              <a:t>Verifica que el bloqueo siga vigente y sea suyo, y revisa solapes en la base.</a:t>
            </a:r>
          </a:p>
        </p:txBody>
      </p:sp>
      <p:sp>
        <p:nvSpPr>
          <p:cNvPr id="17" name="Right Arrow 16"/>
          <p:cNvSpPr/>
          <p:nvPr/>
        </p:nvSpPr>
        <p:spPr>
          <a:xfrm>
            <a:off x="7845552" y="2743200"/>
            <a:ext cx="310896" cy="292608"/>
          </a:xfrm>
          <a:prstGeom prst="rightArrow">
            <a:avLst/>
          </a:prstGeom>
          <a:solidFill>
            <a:srgbClr val="5A64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229600" y="1508760"/>
            <a:ext cx="3383280" cy="278892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458200" y="1719072"/>
            <a:ext cx="566928" cy="566928"/>
          </a:xfrm>
          <a:prstGeom prst="ellipse">
            <a:avLst/>
          </a:prstGeom>
          <a:solidFill>
            <a:srgbClr val="B8336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3</a:t>
            </a:r>
          </a:p>
        </p:txBody>
      </p:sp>
      <p:sp>
        <p:nvSpPr>
          <p:cNvPr id="20" name="TextBox 19"/>
          <p:cNvSpPr txBox="1"/>
          <p:nvPr/>
        </p:nvSpPr>
        <p:spPr>
          <a:xfrm>
            <a:off x="9144000" y="1737360"/>
            <a:ext cx="2377440" cy="548640"/>
          </a:xfrm>
          <a:prstGeom prst="rect">
            <a:avLst/>
          </a:prstGeom>
          <a:noFill/>
        </p:spPr>
        <p:txBody>
          <a:bodyPr wrap="square" lIns="45720" tIns="27432" rIns="45720" bIns="27432" anchor="t">
            <a:spAutoFit/>
          </a:bodyPr>
          <a:lstStyle/>
          <a:p>
            <a:pPr algn="l">
              <a:spcAft>
                <a:spcPts val="400"/>
              </a:spcAft>
            </a:pPr>
            <a:r>
              <a:rPr sz="2200" b="1" i="0">
                <a:solidFill>
                  <a:srgbClr val="1F3B66"/>
                </a:solidFill>
                <a:latin typeface="Calibri"/>
              </a:rPr>
              <a:t>Guardar</a:t>
            </a:r>
          </a:p>
        </p:txBody>
      </p:sp>
      <p:sp>
        <p:nvSpPr>
          <p:cNvPr id="21" name="TextBox 20"/>
          <p:cNvSpPr txBox="1"/>
          <p:nvPr/>
        </p:nvSpPr>
        <p:spPr>
          <a:xfrm>
            <a:off x="8458200" y="2423160"/>
            <a:ext cx="2971800" cy="365760"/>
          </a:xfrm>
          <a:prstGeom prst="rect">
            <a:avLst/>
          </a:prstGeom>
          <a:noFill/>
        </p:spPr>
        <p:txBody>
          <a:bodyPr wrap="square" lIns="45720" tIns="27432" rIns="45720" bIns="27432" anchor="t">
            <a:spAutoFit/>
          </a:bodyPr>
          <a:lstStyle/>
          <a:p>
            <a:pPr algn="l">
              <a:spcAft>
                <a:spcPts val="400"/>
              </a:spcAft>
            </a:pPr>
            <a:r>
              <a:rPr sz="1300" b="1" i="0">
                <a:solidFill>
                  <a:srgbClr val="B8336A"/>
                </a:solidFill>
                <a:latin typeface="Calibri"/>
              </a:rPr>
              <a:t>PostgreSQL · EXCLUDE USING gist</a:t>
            </a:r>
          </a:p>
        </p:txBody>
      </p:sp>
      <p:sp>
        <p:nvSpPr>
          <p:cNvPr id="22" name="TextBox 21"/>
          <p:cNvSpPr txBox="1"/>
          <p:nvPr/>
        </p:nvSpPr>
        <p:spPr>
          <a:xfrm>
            <a:off x="8458200" y="2834640"/>
            <a:ext cx="2971800" cy="1371600"/>
          </a:xfrm>
          <a:prstGeom prst="rect">
            <a:avLst/>
          </a:prstGeom>
          <a:noFill/>
        </p:spPr>
        <p:txBody>
          <a:bodyPr wrap="square" lIns="45720" tIns="27432" rIns="45720" bIns="27432" anchor="t">
            <a:spAutoFit/>
          </a:bodyPr>
          <a:lstStyle/>
          <a:p>
            <a:pPr algn="l">
              <a:spcAft>
                <a:spcPts val="400"/>
              </a:spcAft>
            </a:pPr>
            <a:r>
              <a:rPr sz="1500" b="0" i="0">
                <a:solidFill>
                  <a:srgbClr val="222B38"/>
                </a:solidFill>
                <a:latin typeface="Calibri"/>
              </a:rPr>
              <a:t>Guardia final: la base rechaza dos citas solapadas aunque Redis falle.</a:t>
            </a:r>
          </a:p>
        </p:txBody>
      </p:sp>
      <p:sp>
        <p:nvSpPr>
          <p:cNvPr id="23" name="TextBox 22"/>
          <p:cNvSpPr txBox="1"/>
          <p:nvPr/>
        </p:nvSpPr>
        <p:spPr>
          <a:xfrm>
            <a:off x="548640" y="4572000"/>
            <a:ext cx="3383280" cy="868680"/>
          </a:xfrm>
          <a:prstGeom prst="rect">
            <a:avLst/>
          </a:prstGeom>
          <a:noFill/>
        </p:spPr>
        <p:txBody>
          <a:bodyPr wrap="square" lIns="45720" tIns="27432" rIns="45720" bIns="27432" anchor="t">
            <a:spAutoFit/>
          </a:bodyPr>
          <a:lstStyle/>
          <a:p>
            <a:pPr algn="l">
              <a:spcAft>
                <a:spcPts val="400"/>
              </a:spcAft>
            </a:pPr>
            <a:r>
              <a:rPr sz="4800" b="1" i="0">
                <a:solidFill>
                  <a:srgbClr val="1F3B66"/>
                </a:solidFill>
                <a:latin typeface="Calibri"/>
              </a:rPr>
              <a:t>0</a:t>
            </a:r>
          </a:p>
        </p:txBody>
      </p:sp>
      <p:sp>
        <p:nvSpPr>
          <p:cNvPr id="24" name="TextBox 23"/>
          <p:cNvSpPr txBox="1"/>
          <p:nvPr/>
        </p:nvSpPr>
        <p:spPr>
          <a:xfrm>
            <a:off x="548640" y="5349240"/>
            <a:ext cx="3383280" cy="548640"/>
          </a:xfrm>
          <a:prstGeom prst="rect">
            <a:avLst/>
          </a:prstGeom>
          <a:noFill/>
        </p:spPr>
        <p:txBody>
          <a:bodyPr wrap="square" lIns="45720" tIns="27432" rIns="45720" bIns="27432" anchor="t">
            <a:spAutoFit/>
          </a:bodyPr>
          <a:lstStyle/>
          <a:p>
            <a:pPr algn="l">
              <a:spcAft>
                <a:spcPts val="400"/>
              </a:spcAft>
            </a:pPr>
            <a:r>
              <a:rPr sz="1500" b="0" i="0">
                <a:solidFill>
                  <a:srgbClr val="5A6475"/>
                </a:solidFill>
                <a:latin typeface="Calibri"/>
              </a:rPr>
              <a:t>citas solapadas (EQ-05)</a:t>
            </a:r>
          </a:p>
        </p:txBody>
      </p:sp>
      <p:sp>
        <p:nvSpPr>
          <p:cNvPr id="25" name="TextBox 24"/>
          <p:cNvSpPr txBox="1"/>
          <p:nvPr/>
        </p:nvSpPr>
        <p:spPr>
          <a:xfrm>
            <a:off x="4389120" y="4572000"/>
            <a:ext cx="3383280" cy="868680"/>
          </a:xfrm>
          <a:prstGeom prst="rect">
            <a:avLst/>
          </a:prstGeom>
          <a:noFill/>
        </p:spPr>
        <p:txBody>
          <a:bodyPr wrap="square" lIns="45720" tIns="27432" rIns="45720" bIns="27432" anchor="t">
            <a:spAutoFit/>
          </a:bodyPr>
          <a:lstStyle/>
          <a:p>
            <a:pPr algn="l">
              <a:spcAft>
                <a:spcPts val="400"/>
              </a:spcAft>
            </a:pPr>
            <a:r>
              <a:rPr sz="4800" b="1" i="0">
                <a:solidFill>
                  <a:srgbClr val="1F3B66"/>
                </a:solidFill>
                <a:latin typeface="Calibri"/>
              </a:rPr>
              <a:t>16</a:t>
            </a:r>
          </a:p>
        </p:txBody>
      </p:sp>
      <p:sp>
        <p:nvSpPr>
          <p:cNvPr id="26" name="TextBox 25"/>
          <p:cNvSpPr txBox="1"/>
          <p:nvPr/>
        </p:nvSpPr>
        <p:spPr>
          <a:xfrm>
            <a:off x="4389120" y="5349240"/>
            <a:ext cx="3383280" cy="548640"/>
          </a:xfrm>
          <a:prstGeom prst="rect">
            <a:avLst/>
          </a:prstGeom>
          <a:noFill/>
        </p:spPr>
        <p:txBody>
          <a:bodyPr wrap="square" lIns="45720" tIns="27432" rIns="45720" bIns="27432" anchor="t">
            <a:spAutoFit/>
          </a:bodyPr>
          <a:lstStyle/>
          <a:p>
            <a:pPr algn="l">
              <a:spcAft>
                <a:spcPts val="400"/>
              </a:spcAft>
            </a:pPr>
            <a:r>
              <a:rPr sz="1500" b="0" i="0">
                <a:solidFill>
                  <a:srgbClr val="5A6475"/>
                </a:solidFill>
                <a:latin typeface="Calibri"/>
              </a:rPr>
              <a:t>pruebas correctas sin Redis ni BD</a:t>
            </a:r>
          </a:p>
        </p:txBody>
      </p:sp>
      <p:sp>
        <p:nvSpPr>
          <p:cNvPr id="27" name="TextBox 26"/>
          <p:cNvSpPr txBox="1"/>
          <p:nvPr/>
        </p:nvSpPr>
        <p:spPr>
          <a:xfrm>
            <a:off x="8229600" y="4572000"/>
            <a:ext cx="3383280" cy="868680"/>
          </a:xfrm>
          <a:prstGeom prst="rect">
            <a:avLst/>
          </a:prstGeom>
          <a:noFill/>
        </p:spPr>
        <p:txBody>
          <a:bodyPr wrap="square" lIns="45720" tIns="27432" rIns="45720" bIns="27432" anchor="t">
            <a:spAutoFit/>
          </a:bodyPr>
          <a:lstStyle/>
          <a:p>
            <a:pPr algn="l">
              <a:spcAft>
                <a:spcPts val="400"/>
              </a:spcAft>
            </a:pPr>
            <a:r>
              <a:rPr sz="4800" b="1" i="0">
                <a:solidFill>
                  <a:srgbClr val="1F3B66"/>
                </a:solidFill>
                <a:latin typeface="Calibri"/>
              </a:rPr>
              <a:t>5 min</a:t>
            </a:r>
          </a:p>
        </p:txBody>
      </p:sp>
      <p:sp>
        <p:nvSpPr>
          <p:cNvPr id="28" name="TextBox 27"/>
          <p:cNvSpPr txBox="1"/>
          <p:nvPr/>
        </p:nvSpPr>
        <p:spPr>
          <a:xfrm>
            <a:off x="8229600" y="5349240"/>
            <a:ext cx="3383280" cy="548640"/>
          </a:xfrm>
          <a:prstGeom prst="rect">
            <a:avLst/>
          </a:prstGeom>
          <a:noFill/>
        </p:spPr>
        <p:txBody>
          <a:bodyPr wrap="square" lIns="45720" tIns="27432" rIns="45720" bIns="27432" anchor="t">
            <a:spAutoFit/>
          </a:bodyPr>
          <a:lstStyle/>
          <a:p>
            <a:pPr algn="l">
              <a:spcAft>
                <a:spcPts val="400"/>
              </a:spcAft>
            </a:pPr>
            <a:r>
              <a:rPr sz="1500" b="0" i="0">
                <a:solidFill>
                  <a:srgbClr val="5A6475"/>
                </a:solidFill>
                <a:latin typeface="Calibri"/>
              </a:rPr>
              <a:t>duración del bloqueo (RF07)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8229600" cy="320040"/>
          </a:xfrm>
          <a:prstGeom prst="rect">
            <a:avLst/>
          </a:prstGeom>
          <a:noFill/>
        </p:spPr>
        <p:txBody>
          <a:bodyPr wrap="square" lIns="45720" tIns="27432" rIns="45720" bIns="27432" anchor="t">
            <a:spAutoFit/>
          </a:bodyPr>
          <a:lstStyle/>
          <a:p>
            <a:pPr algn="l">
              <a:spcAft>
                <a:spcPts val="400"/>
              </a:spcAft>
            </a:pPr>
            <a:r>
              <a:rPr sz="1200" b="1" i="0">
                <a:solidFill>
                  <a:srgbClr val="B8336A"/>
                </a:solidFill>
                <a:latin typeface="Calibri"/>
              </a:rPr>
              <a:t>ARQUITECTURA · ESTILO</a:t>
            </a:r>
          </a:p>
        </p:txBody>
      </p:sp>
      <p:sp>
        <p:nvSpPr>
          <p:cNvPr id="3" name="TextBox 2"/>
          <p:cNvSpPr txBox="1"/>
          <p:nvPr/>
        </p:nvSpPr>
        <p:spPr>
          <a:xfrm>
            <a:off x="548640" y="566928"/>
            <a:ext cx="11155680" cy="731520"/>
          </a:xfrm>
          <a:prstGeom prst="rect">
            <a:avLst/>
          </a:prstGeom>
          <a:noFill/>
        </p:spPr>
        <p:txBody>
          <a:bodyPr wrap="square" lIns="45720" tIns="27432" rIns="45720" bIns="27432" anchor="t">
            <a:spAutoFit/>
          </a:bodyPr>
          <a:lstStyle/>
          <a:p>
            <a:pPr algn="l">
              <a:spcAft>
                <a:spcPts val="400"/>
              </a:spcAft>
            </a:pPr>
            <a:r>
              <a:rPr sz="3200" b="1" i="0">
                <a:solidFill>
                  <a:srgbClr val="1F3B66"/>
                </a:solidFill>
                <a:latin typeface="Calibri"/>
              </a:rPr>
              <a:t>Estilo: monolito modular + SPA</a:t>
            </a:r>
          </a:p>
        </p:txBody>
      </p:sp>
      <p:sp>
        <p:nvSpPr>
          <p:cNvPr id="4" name="TextBox 3"/>
          <p:cNvSpPr txBox="1"/>
          <p:nvPr/>
        </p:nvSpPr>
        <p:spPr>
          <a:xfrm>
            <a:off x="548640" y="6419088"/>
            <a:ext cx="5486400" cy="274320"/>
          </a:xfrm>
          <a:prstGeom prst="rect">
            <a:avLst/>
          </a:prstGeom>
          <a:noFill/>
        </p:spPr>
        <p:txBody>
          <a:bodyPr wrap="square" lIns="45720" tIns="27432" rIns="45720" bIns="27432" anchor="t">
            <a:spAutoFit/>
          </a:bodyPr>
          <a:lstStyle/>
          <a:p>
            <a:pPr algn="l">
              <a:spcAft>
                <a:spcPts val="400"/>
              </a:spcAft>
            </a:pPr>
            <a:r>
              <a:rPr sz="1000" b="0" i="0">
                <a:solidFill>
                  <a:srgbClr val="5A6475"/>
                </a:solidFill>
                <a:latin typeface="Calibri"/>
              </a:rPr>
              <a:t>AnyColor Salón · Primer sprint</a:t>
            </a:r>
          </a:p>
        </p:txBody>
      </p:sp>
      <p:sp>
        <p:nvSpPr>
          <p:cNvPr id="5" name="TextBox 4"/>
          <p:cNvSpPr txBox="1"/>
          <p:nvPr/>
        </p:nvSpPr>
        <p:spPr>
          <a:xfrm>
            <a:off x="10698480" y="6419088"/>
            <a:ext cx="1005840" cy="274320"/>
          </a:xfrm>
          <a:prstGeom prst="rect">
            <a:avLst/>
          </a:prstGeom>
          <a:noFill/>
        </p:spPr>
        <p:txBody>
          <a:bodyPr wrap="square" lIns="45720" tIns="27432" rIns="45720" bIns="27432" anchor="t">
            <a:spAutoFit/>
          </a:bodyPr>
          <a:lstStyle/>
          <a:p>
            <a:pPr algn="r">
              <a:spcAft>
                <a:spcPts val="400"/>
              </a:spcAft>
            </a:pPr>
            <a:r>
              <a:rPr sz="1000" b="0" i="0">
                <a:solidFill>
                  <a:srgbClr val="5A6475"/>
                </a:solidFill>
                <a:latin typeface="Calibri"/>
              </a:rPr>
              <a:t>7 / 14</a:t>
            </a:r>
          </a:p>
        </p:txBody>
      </p:sp>
      <p:pic>
        <p:nvPicPr>
          <p:cNvPr id="6" name="Picture 5" descr="image.png"/>
          <p:cNvPicPr>
            <a:picLocks noChangeAspect="1"/>
          </p:cNvPicPr>
          <p:nvPr/>
        </p:nvPicPr>
        <p:blipFill>
          <a:blip r:embed="rId3"/>
          <a:stretch>
            <a:fillRect/>
          </a:stretch>
        </p:blipFill>
        <p:spPr>
          <a:xfrm>
            <a:off x="1014771" y="1371600"/>
            <a:ext cx="6017177" cy="4937760"/>
          </a:xfrm>
          <a:prstGeom prst="rect">
            <a:avLst/>
          </a:prstGeom>
          <a:ln w="9525">
            <a:solidFill>
              <a:srgbClr val="D5DBE5"/>
            </a:solidFill>
          </a:ln>
        </p:spPr>
      </p:pic>
      <p:sp>
        <p:nvSpPr>
          <p:cNvPr id="7" name="TextBox 6"/>
          <p:cNvSpPr txBox="1"/>
          <p:nvPr/>
        </p:nvSpPr>
        <p:spPr>
          <a:xfrm>
            <a:off x="7863840" y="1463040"/>
            <a:ext cx="3840480" cy="365760"/>
          </a:xfrm>
          <a:prstGeom prst="rect">
            <a:avLst/>
          </a:prstGeom>
          <a:noFill/>
        </p:spPr>
        <p:txBody>
          <a:bodyPr wrap="square" lIns="45720" tIns="27432" rIns="45720" bIns="27432" anchor="t">
            <a:spAutoFit/>
          </a:bodyPr>
          <a:lstStyle/>
          <a:p>
            <a:pPr algn="l">
              <a:spcAft>
                <a:spcPts val="400"/>
              </a:spcAft>
            </a:pPr>
            <a:r>
              <a:rPr sz="1800" b="1" i="0">
                <a:solidFill>
                  <a:srgbClr val="1F3B66"/>
                </a:solidFill>
                <a:latin typeface="Calibri"/>
              </a:rPr>
              <a:t>Por qué este estilo</a:t>
            </a:r>
          </a:p>
        </p:txBody>
      </p:sp>
      <p:sp>
        <p:nvSpPr>
          <p:cNvPr id="8" name="TextBox 7"/>
          <p:cNvSpPr txBox="1"/>
          <p:nvPr/>
        </p:nvSpPr>
        <p:spPr>
          <a:xfrm>
            <a:off x="7863840" y="1920240"/>
            <a:ext cx="3840480" cy="822960"/>
          </a:xfrm>
          <a:prstGeom prst="rect">
            <a:avLst/>
          </a:prstGeom>
          <a:noFill/>
        </p:spPr>
        <p:txBody>
          <a:bodyPr wrap="square" lIns="45720" tIns="27432" rIns="45720" bIns="27432" anchor="t">
            <a:spAutoFit/>
          </a:bodyPr>
          <a:lstStyle/>
          <a:p>
            <a:pPr algn="l">
              <a:spcAft>
                <a:spcPts val="0"/>
              </a:spcAft>
            </a:pPr>
            <a:r>
              <a:rPr sz="1500" b="1" i="0">
                <a:solidFill>
                  <a:srgbClr val="222B38"/>
                </a:solidFill>
                <a:latin typeface="Calibri"/>
              </a:rPr>
              <a:t>Una transacción local</a:t>
            </a:r>
          </a:p>
          <a:p>
            <a:pPr algn="l">
              <a:spcAft>
                <a:spcPts val="0"/>
              </a:spcAft>
            </a:pPr>
            <a:r>
              <a:rPr sz="1400" b="0" i="0">
                <a:solidFill>
                  <a:srgbClr val="5A6475"/>
                </a:solidFill>
                <a:latin typeface="Calibri"/>
              </a:rPr>
              <a:t>Venta, inventario, caja y comisión se confirman juntas (DA03).</a:t>
            </a:r>
          </a:p>
        </p:txBody>
      </p:sp>
      <p:sp>
        <p:nvSpPr>
          <p:cNvPr id="9" name="TextBox 8"/>
          <p:cNvSpPr txBox="1"/>
          <p:nvPr/>
        </p:nvSpPr>
        <p:spPr>
          <a:xfrm>
            <a:off x="7863840" y="2788920"/>
            <a:ext cx="3840480" cy="822960"/>
          </a:xfrm>
          <a:prstGeom prst="rect">
            <a:avLst/>
          </a:prstGeom>
          <a:noFill/>
        </p:spPr>
        <p:txBody>
          <a:bodyPr wrap="square" lIns="45720" tIns="27432" rIns="45720" bIns="27432" anchor="t">
            <a:spAutoFit/>
          </a:bodyPr>
          <a:lstStyle/>
          <a:p>
            <a:pPr algn="l">
              <a:spcAft>
                <a:spcPts val="0"/>
              </a:spcAft>
            </a:pPr>
            <a:r>
              <a:rPr sz="1500" b="1" i="0">
                <a:solidFill>
                  <a:srgbClr val="222B38"/>
                </a:solidFill>
                <a:latin typeface="Calibri"/>
              </a:rPr>
              <a:t>Escala horizontal</a:t>
            </a:r>
          </a:p>
          <a:p>
            <a:pPr algn="l">
              <a:spcAft>
                <a:spcPts val="0"/>
              </a:spcAft>
            </a:pPr>
            <a:r>
              <a:rPr sz="1400" b="0" i="0">
                <a:solidFill>
                  <a:srgbClr val="5A6475"/>
                </a:solidFill>
                <a:latin typeface="Calibri"/>
              </a:rPr>
              <a:t>API sin estado: más instancias en campañas (DA02).</a:t>
            </a:r>
          </a:p>
        </p:txBody>
      </p:sp>
      <p:sp>
        <p:nvSpPr>
          <p:cNvPr id="10" name="TextBox 9"/>
          <p:cNvSpPr txBox="1"/>
          <p:nvPr/>
        </p:nvSpPr>
        <p:spPr>
          <a:xfrm>
            <a:off x="7863840" y="3657600"/>
            <a:ext cx="3840480" cy="822960"/>
          </a:xfrm>
          <a:prstGeom prst="rect">
            <a:avLst/>
          </a:prstGeom>
          <a:noFill/>
        </p:spPr>
        <p:txBody>
          <a:bodyPr wrap="square" lIns="45720" tIns="27432" rIns="45720" bIns="27432" anchor="t">
            <a:spAutoFit/>
          </a:bodyPr>
          <a:lstStyle/>
          <a:p>
            <a:pPr algn="l">
              <a:spcAft>
                <a:spcPts val="0"/>
              </a:spcAft>
            </a:pPr>
            <a:r>
              <a:rPr sz="1500" b="1" i="0">
                <a:solidFill>
                  <a:srgbClr val="222B38"/>
                </a:solidFill>
                <a:latin typeface="Calibri"/>
              </a:rPr>
              <a:t>Fronteras claras</a:t>
            </a:r>
          </a:p>
          <a:p>
            <a:pPr algn="l">
              <a:spcAft>
                <a:spcPts val="0"/>
              </a:spcAft>
            </a:pPr>
            <a:r>
              <a:rPr sz="1400" b="0" i="0">
                <a:solidFill>
                  <a:srgbClr val="5A6475"/>
                </a:solidFill>
                <a:latin typeface="Calibri"/>
              </a:rPr>
              <a:t>Ocho módulos; cada uno con Clean Architecture (DA06).</a:t>
            </a:r>
          </a:p>
        </p:txBody>
      </p:sp>
      <p:sp>
        <p:nvSpPr>
          <p:cNvPr id="11" name="TextBox 10"/>
          <p:cNvSpPr txBox="1"/>
          <p:nvPr/>
        </p:nvSpPr>
        <p:spPr>
          <a:xfrm>
            <a:off x="7863840" y="4526279"/>
            <a:ext cx="3840480" cy="822960"/>
          </a:xfrm>
          <a:prstGeom prst="rect">
            <a:avLst/>
          </a:prstGeom>
          <a:noFill/>
        </p:spPr>
        <p:txBody>
          <a:bodyPr wrap="square" lIns="45720" tIns="27432" rIns="45720" bIns="27432" anchor="t">
            <a:spAutoFit/>
          </a:bodyPr>
          <a:lstStyle/>
          <a:p>
            <a:pPr algn="l">
              <a:spcAft>
                <a:spcPts val="0"/>
              </a:spcAft>
            </a:pPr>
            <a:r>
              <a:rPr sz="1500" b="1" i="0">
                <a:solidFill>
                  <a:srgbClr val="222B38"/>
                </a:solidFill>
                <a:latin typeface="Calibri"/>
              </a:rPr>
              <a:t>Simple de operar</a:t>
            </a:r>
          </a:p>
          <a:p>
            <a:pPr algn="l">
              <a:spcAft>
                <a:spcPts val="0"/>
              </a:spcAft>
            </a:pPr>
            <a:r>
              <a:rPr sz="1400" b="0" i="0">
                <a:solidFill>
                  <a:srgbClr val="5A6475"/>
                </a:solidFill>
                <a:latin typeface="Calibri"/>
              </a:rPr>
              <a:t>Un solo despliegue para el MVP.</a:t>
            </a:r>
          </a:p>
        </p:txBody>
      </p:sp>
      <p:sp>
        <p:nvSpPr>
          <p:cNvPr id="12" name="Rounded Rectangle 11"/>
          <p:cNvSpPr/>
          <p:nvPr/>
        </p:nvSpPr>
        <p:spPr>
          <a:xfrm>
            <a:off x="7863840" y="5440680"/>
            <a:ext cx="3794760" cy="822960"/>
          </a:xfrm>
          <a:prstGeom prst="roundRect">
            <a:avLst>
              <a:gd name="adj" fmla="val 8000"/>
            </a:avLst>
          </a:prstGeom>
          <a:solidFill>
            <a:srgbClr val="FB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0" y="5504688"/>
            <a:ext cx="3520440" cy="731520"/>
          </a:xfrm>
          <a:prstGeom prst="rect">
            <a:avLst/>
          </a:prstGeom>
          <a:noFill/>
        </p:spPr>
        <p:txBody>
          <a:bodyPr wrap="square" lIns="45720" tIns="27432" rIns="45720" bIns="27432" anchor="t">
            <a:spAutoFit/>
          </a:bodyPr>
          <a:lstStyle/>
          <a:p>
            <a:pPr algn="l">
              <a:spcAft>
                <a:spcPts val="400"/>
              </a:spcAft>
            </a:pPr>
            <a:r>
              <a:rPr sz="1300" b="1" i="0">
                <a:solidFill>
                  <a:srgbClr val="B8336A"/>
                </a:solidFill>
                <a:latin typeface="Calibri"/>
              </a:rPr>
              <a:t>Descartado: </a:t>
            </a:r>
            <a:r>
              <a:rPr sz="1300" b="0" i="0">
                <a:solidFill>
                  <a:srgbClr val="222B38"/>
                </a:solidFill>
                <a:latin typeface="Calibri"/>
              </a:rPr>
              <a:t>microservicios, por costo y consistencia eventual en flujos que necesitan ACID.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8229600" cy="320040"/>
          </a:xfrm>
          <a:prstGeom prst="rect">
            <a:avLst/>
          </a:prstGeom>
          <a:noFill/>
        </p:spPr>
        <p:txBody>
          <a:bodyPr wrap="square" lIns="45720" tIns="27432" rIns="45720" bIns="27432" anchor="t">
            <a:spAutoFit/>
          </a:bodyPr>
          <a:lstStyle/>
          <a:p>
            <a:pPr algn="l">
              <a:spcAft>
                <a:spcPts val="400"/>
              </a:spcAft>
            </a:pPr>
            <a:r>
              <a:rPr sz="1200" b="1" i="0">
                <a:solidFill>
                  <a:srgbClr val="B8336A"/>
                </a:solidFill>
                <a:latin typeface="Calibri"/>
              </a:rPr>
              <a:t>DISEÑO · MODELO C4</a:t>
            </a:r>
          </a:p>
        </p:txBody>
      </p:sp>
      <p:sp>
        <p:nvSpPr>
          <p:cNvPr id="3" name="TextBox 2"/>
          <p:cNvSpPr txBox="1"/>
          <p:nvPr/>
        </p:nvSpPr>
        <p:spPr>
          <a:xfrm>
            <a:off x="548640" y="566928"/>
            <a:ext cx="11155680" cy="731520"/>
          </a:xfrm>
          <a:prstGeom prst="rect">
            <a:avLst/>
          </a:prstGeom>
          <a:noFill/>
        </p:spPr>
        <p:txBody>
          <a:bodyPr wrap="square" lIns="45720" tIns="27432" rIns="45720" bIns="27432" anchor="t">
            <a:spAutoFit/>
          </a:bodyPr>
          <a:lstStyle/>
          <a:p>
            <a:pPr algn="l">
              <a:spcAft>
                <a:spcPts val="400"/>
              </a:spcAft>
            </a:pPr>
            <a:r>
              <a:rPr sz="3200" b="1" i="0">
                <a:solidFill>
                  <a:srgbClr val="1F3B66"/>
                </a:solidFill>
                <a:latin typeface="Calibri"/>
              </a:rPr>
              <a:t>Modelo C4: del contexto al código</a:t>
            </a:r>
          </a:p>
        </p:txBody>
      </p:sp>
      <p:sp>
        <p:nvSpPr>
          <p:cNvPr id="4" name="TextBox 3"/>
          <p:cNvSpPr txBox="1"/>
          <p:nvPr/>
        </p:nvSpPr>
        <p:spPr>
          <a:xfrm>
            <a:off x="548640" y="6419088"/>
            <a:ext cx="5486400" cy="274320"/>
          </a:xfrm>
          <a:prstGeom prst="rect">
            <a:avLst/>
          </a:prstGeom>
          <a:noFill/>
        </p:spPr>
        <p:txBody>
          <a:bodyPr wrap="square" lIns="45720" tIns="27432" rIns="45720" bIns="27432" anchor="t">
            <a:spAutoFit/>
          </a:bodyPr>
          <a:lstStyle/>
          <a:p>
            <a:pPr algn="l">
              <a:spcAft>
                <a:spcPts val="400"/>
              </a:spcAft>
            </a:pPr>
            <a:r>
              <a:rPr sz="1000" b="0" i="0">
                <a:solidFill>
                  <a:srgbClr val="5A6475"/>
                </a:solidFill>
                <a:latin typeface="Calibri"/>
              </a:rPr>
              <a:t>AnyColor Salón · Primer sprint</a:t>
            </a:r>
          </a:p>
        </p:txBody>
      </p:sp>
      <p:sp>
        <p:nvSpPr>
          <p:cNvPr id="5" name="TextBox 4"/>
          <p:cNvSpPr txBox="1"/>
          <p:nvPr/>
        </p:nvSpPr>
        <p:spPr>
          <a:xfrm>
            <a:off x="10698480" y="6419088"/>
            <a:ext cx="1005840" cy="274320"/>
          </a:xfrm>
          <a:prstGeom prst="rect">
            <a:avLst/>
          </a:prstGeom>
          <a:noFill/>
        </p:spPr>
        <p:txBody>
          <a:bodyPr wrap="square" lIns="45720" tIns="27432" rIns="45720" bIns="27432" anchor="t">
            <a:spAutoFit/>
          </a:bodyPr>
          <a:lstStyle/>
          <a:p>
            <a:pPr algn="r">
              <a:spcAft>
                <a:spcPts val="400"/>
              </a:spcAft>
            </a:pPr>
            <a:r>
              <a:rPr sz="1000" b="0" i="0">
                <a:solidFill>
                  <a:srgbClr val="5A6475"/>
                </a:solidFill>
                <a:latin typeface="Calibri"/>
              </a:rPr>
              <a:t>8 / 14</a:t>
            </a:r>
          </a:p>
        </p:txBody>
      </p:sp>
      <p:sp>
        <p:nvSpPr>
          <p:cNvPr id="6" name="Rounded Rectangle 5"/>
          <p:cNvSpPr/>
          <p:nvPr/>
        </p:nvSpPr>
        <p:spPr>
          <a:xfrm>
            <a:off x="548640" y="1463040"/>
            <a:ext cx="2651760" cy="452628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3"/>
          <a:stretch>
            <a:fillRect/>
          </a:stretch>
        </p:blipFill>
        <p:spPr>
          <a:xfrm>
            <a:off x="685800" y="2082622"/>
            <a:ext cx="2377440" cy="1412595"/>
          </a:xfrm>
          <a:prstGeom prst="rect">
            <a:avLst/>
          </a:prstGeom>
          <a:ln w="9525">
            <a:solidFill>
              <a:srgbClr val="D5DBE5"/>
            </a:solidFill>
          </a:ln>
        </p:spPr>
      </p:pic>
      <p:sp>
        <p:nvSpPr>
          <p:cNvPr id="8" name="Oval 7"/>
          <p:cNvSpPr/>
          <p:nvPr/>
        </p:nvSpPr>
        <p:spPr>
          <a:xfrm>
            <a:off x="685800" y="4160520"/>
            <a:ext cx="502920" cy="502920"/>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1</a:t>
            </a:r>
          </a:p>
        </p:txBody>
      </p:sp>
      <p:sp>
        <p:nvSpPr>
          <p:cNvPr id="9" name="TextBox 8"/>
          <p:cNvSpPr txBox="1"/>
          <p:nvPr/>
        </p:nvSpPr>
        <p:spPr>
          <a:xfrm>
            <a:off x="1280160" y="4187952"/>
            <a:ext cx="1828800" cy="457200"/>
          </a:xfrm>
          <a:prstGeom prst="rect">
            <a:avLst/>
          </a:prstGeom>
          <a:noFill/>
        </p:spPr>
        <p:txBody>
          <a:bodyPr wrap="square" lIns="45720" tIns="27432" rIns="45720" bIns="27432" anchor="t">
            <a:spAutoFit/>
          </a:bodyPr>
          <a:lstStyle/>
          <a:p>
            <a:pPr algn="l">
              <a:spcAft>
                <a:spcPts val="400"/>
              </a:spcAft>
            </a:pPr>
            <a:r>
              <a:rPr sz="1700" b="1" i="0">
                <a:solidFill>
                  <a:srgbClr val="1F3B66"/>
                </a:solidFill>
                <a:latin typeface="Calibri"/>
              </a:rPr>
              <a:t>Contexto</a:t>
            </a:r>
          </a:p>
        </p:txBody>
      </p:sp>
      <p:sp>
        <p:nvSpPr>
          <p:cNvPr id="10" name="TextBox 9"/>
          <p:cNvSpPr txBox="1"/>
          <p:nvPr/>
        </p:nvSpPr>
        <p:spPr>
          <a:xfrm>
            <a:off x="685800" y="4800600"/>
            <a:ext cx="2377440" cy="1097280"/>
          </a:xfrm>
          <a:prstGeom prst="rect">
            <a:avLst/>
          </a:prstGeom>
          <a:noFill/>
        </p:spPr>
        <p:txBody>
          <a:bodyPr wrap="square" lIns="45720" tIns="27432" rIns="45720" bIns="27432" anchor="t">
            <a:spAutoFit/>
          </a:bodyPr>
          <a:lstStyle/>
          <a:p>
            <a:pPr algn="l">
              <a:spcAft>
                <a:spcPts val="400"/>
              </a:spcAft>
            </a:pPr>
            <a:r>
              <a:rPr sz="1400" b="0" i="0">
                <a:solidFill>
                  <a:srgbClr val="5A6475"/>
                </a:solidFill>
                <a:latin typeface="Calibri"/>
              </a:rPr>
              <a:t>¿Qué es el sistema, quién lo usa y con quién se integra?</a:t>
            </a:r>
          </a:p>
        </p:txBody>
      </p:sp>
      <p:sp>
        <p:nvSpPr>
          <p:cNvPr id="11" name="Right Arrow 10"/>
          <p:cNvSpPr/>
          <p:nvPr/>
        </p:nvSpPr>
        <p:spPr>
          <a:xfrm>
            <a:off x="3227832" y="2743200"/>
            <a:ext cx="128016" cy="219456"/>
          </a:xfrm>
          <a:prstGeom prst="rightArrow">
            <a:avLst/>
          </a:prstGeom>
          <a:solidFill>
            <a:srgbClr val="5A64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383280" y="1463040"/>
            <a:ext cx="2651760" cy="452628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mage.png"/>
          <p:cNvPicPr>
            <a:picLocks noChangeAspect="1"/>
          </p:cNvPicPr>
          <p:nvPr/>
        </p:nvPicPr>
        <p:blipFill>
          <a:blip r:embed="rId4"/>
          <a:stretch>
            <a:fillRect/>
          </a:stretch>
        </p:blipFill>
        <p:spPr>
          <a:xfrm>
            <a:off x="3520440" y="1996440"/>
            <a:ext cx="2377440" cy="1584960"/>
          </a:xfrm>
          <a:prstGeom prst="rect">
            <a:avLst/>
          </a:prstGeom>
          <a:ln w="9525">
            <a:solidFill>
              <a:srgbClr val="D5DBE5"/>
            </a:solidFill>
          </a:ln>
        </p:spPr>
      </p:pic>
      <p:sp>
        <p:nvSpPr>
          <p:cNvPr id="14" name="Oval 13"/>
          <p:cNvSpPr/>
          <p:nvPr/>
        </p:nvSpPr>
        <p:spPr>
          <a:xfrm>
            <a:off x="3520440" y="4160520"/>
            <a:ext cx="502920" cy="502920"/>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2</a:t>
            </a:r>
          </a:p>
        </p:txBody>
      </p:sp>
      <p:sp>
        <p:nvSpPr>
          <p:cNvPr id="15" name="TextBox 14"/>
          <p:cNvSpPr txBox="1"/>
          <p:nvPr/>
        </p:nvSpPr>
        <p:spPr>
          <a:xfrm>
            <a:off x="4114800" y="4187952"/>
            <a:ext cx="1828800" cy="457200"/>
          </a:xfrm>
          <a:prstGeom prst="rect">
            <a:avLst/>
          </a:prstGeom>
          <a:noFill/>
        </p:spPr>
        <p:txBody>
          <a:bodyPr wrap="square" lIns="45720" tIns="27432" rIns="45720" bIns="27432" anchor="t">
            <a:spAutoFit/>
          </a:bodyPr>
          <a:lstStyle/>
          <a:p>
            <a:pPr algn="l">
              <a:spcAft>
                <a:spcPts val="400"/>
              </a:spcAft>
            </a:pPr>
            <a:r>
              <a:rPr sz="1700" b="1" i="0">
                <a:solidFill>
                  <a:srgbClr val="1F3B66"/>
                </a:solidFill>
                <a:latin typeface="Calibri"/>
              </a:rPr>
              <a:t>Contenedores</a:t>
            </a:r>
          </a:p>
        </p:txBody>
      </p:sp>
      <p:sp>
        <p:nvSpPr>
          <p:cNvPr id="16" name="TextBox 15"/>
          <p:cNvSpPr txBox="1"/>
          <p:nvPr/>
        </p:nvSpPr>
        <p:spPr>
          <a:xfrm>
            <a:off x="3520440" y="4800600"/>
            <a:ext cx="2377440" cy="1097280"/>
          </a:xfrm>
          <a:prstGeom prst="rect">
            <a:avLst/>
          </a:prstGeom>
          <a:noFill/>
        </p:spPr>
        <p:txBody>
          <a:bodyPr wrap="square" lIns="45720" tIns="27432" rIns="45720" bIns="27432" anchor="t">
            <a:spAutoFit/>
          </a:bodyPr>
          <a:lstStyle/>
          <a:p>
            <a:pPr algn="l">
              <a:spcAft>
                <a:spcPts val="400"/>
              </a:spcAft>
            </a:pPr>
            <a:r>
              <a:rPr sz="1400" b="0" i="0">
                <a:solidFill>
                  <a:srgbClr val="5A6475"/>
                </a:solidFill>
                <a:latin typeface="Calibri"/>
              </a:rPr>
              <a:t>¿Qué piezas se ejecutan y con qué tecnología?</a:t>
            </a:r>
          </a:p>
        </p:txBody>
      </p:sp>
      <p:sp>
        <p:nvSpPr>
          <p:cNvPr id="17" name="Right Arrow 16"/>
          <p:cNvSpPr/>
          <p:nvPr/>
        </p:nvSpPr>
        <p:spPr>
          <a:xfrm>
            <a:off x="6062472" y="2743200"/>
            <a:ext cx="128016" cy="219456"/>
          </a:xfrm>
          <a:prstGeom prst="rightArrow">
            <a:avLst/>
          </a:prstGeom>
          <a:solidFill>
            <a:srgbClr val="5A64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217920" y="1463040"/>
            <a:ext cx="2651760" cy="452628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image.png"/>
          <p:cNvPicPr>
            <a:picLocks noChangeAspect="1"/>
          </p:cNvPicPr>
          <p:nvPr/>
        </p:nvPicPr>
        <p:blipFill>
          <a:blip r:embed="rId5"/>
          <a:stretch>
            <a:fillRect/>
          </a:stretch>
        </p:blipFill>
        <p:spPr>
          <a:xfrm>
            <a:off x="6355080" y="1758696"/>
            <a:ext cx="2377440" cy="2060448"/>
          </a:xfrm>
          <a:prstGeom prst="rect">
            <a:avLst/>
          </a:prstGeom>
          <a:ln w="9525">
            <a:solidFill>
              <a:srgbClr val="D5DBE5"/>
            </a:solidFill>
          </a:ln>
        </p:spPr>
      </p:pic>
      <p:sp>
        <p:nvSpPr>
          <p:cNvPr id="20" name="Oval 19"/>
          <p:cNvSpPr/>
          <p:nvPr/>
        </p:nvSpPr>
        <p:spPr>
          <a:xfrm>
            <a:off x="6355080" y="4160520"/>
            <a:ext cx="502920" cy="502920"/>
          </a:xfrm>
          <a:prstGeom prst="ellipse">
            <a:avLst/>
          </a:prstGeom>
          <a:solidFill>
            <a:srgbClr val="1F3B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3</a:t>
            </a:r>
          </a:p>
        </p:txBody>
      </p:sp>
      <p:sp>
        <p:nvSpPr>
          <p:cNvPr id="21" name="TextBox 20"/>
          <p:cNvSpPr txBox="1"/>
          <p:nvPr/>
        </p:nvSpPr>
        <p:spPr>
          <a:xfrm>
            <a:off x="6949440" y="4187952"/>
            <a:ext cx="1828800" cy="457200"/>
          </a:xfrm>
          <a:prstGeom prst="rect">
            <a:avLst/>
          </a:prstGeom>
          <a:noFill/>
        </p:spPr>
        <p:txBody>
          <a:bodyPr wrap="square" lIns="45720" tIns="27432" rIns="45720" bIns="27432" anchor="t">
            <a:spAutoFit/>
          </a:bodyPr>
          <a:lstStyle/>
          <a:p>
            <a:pPr algn="l">
              <a:spcAft>
                <a:spcPts val="400"/>
              </a:spcAft>
            </a:pPr>
            <a:r>
              <a:rPr sz="1700" b="1" i="0">
                <a:solidFill>
                  <a:srgbClr val="1F3B66"/>
                </a:solidFill>
                <a:latin typeface="Calibri"/>
              </a:rPr>
              <a:t>Componentes</a:t>
            </a:r>
          </a:p>
        </p:txBody>
      </p:sp>
      <p:sp>
        <p:nvSpPr>
          <p:cNvPr id="22" name="TextBox 21"/>
          <p:cNvSpPr txBox="1"/>
          <p:nvPr/>
        </p:nvSpPr>
        <p:spPr>
          <a:xfrm>
            <a:off x="6355080" y="4800600"/>
            <a:ext cx="2377440" cy="1097280"/>
          </a:xfrm>
          <a:prstGeom prst="rect">
            <a:avLst/>
          </a:prstGeom>
          <a:noFill/>
        </p:spPr>
        <p:txBody>
          <a:bodyPr wrap="square" lIns="45720" tIns="27432" rIns="45720" bIns="27432" anchor="t">
            <a:spAutoFit/>
          </a:bodyPr>
          <a:lstStyle/>
          <a:p>
            <a:pPr algn="l">
              <a:spcAft>
                <a:spcPts val="400"/>
              </a:spcAft>
            </a:pPr>
            <a:r>
              <a:rPr sz="1400" b="0" i="0">
                <a:solidFill>
                  <a:srgbClr val="5A6475"/>
                </a:solidFill>
                <a:latin typeface="Calibri"/>
              </a:rPr>
              <a:t>¿Cómo se divide la API por dentro?</a:t>
            </a:r>
          </a:p>
        </p:txBody>
      </p:sp>
      <p:sp>
        <p:nvSpPr>
          <p:cNvPr id="23" name="Right Arrow 22"/>
          <p:cNvSpPr/>
          <p:nvPr/>
        </p:nvSpPr>
        <p:spPr>
          <a:xfrm>
            <a:off x="8897112" y="2743200"/>
            <a:ext cx="128016" cy="219456"/>
          </a:xfrm>
          <a:prstGeom prst="rightArrow">
            <a:avLst/>
          </a:prstGeom>
          <a:solidFill>
            <a:srgbClr val="5A64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052560" y="1463040"/>
            <a:ext cx="2651760" cy="452628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image.png"/>
          <p:cNvPicPr>
            <a:picLocks noChangeAspect="1"/>
          </p:cNvPicPr>
          <p:nvPr/>
        </p:nvPicPr>
        <p:blipFill>
          <a:blip r:embed="rId6"/>
          <a:stretch>
            <a:fillRect/>
          </a:stretch>
        </p:blipFill>
        <p:spPr>
          <a:xfrm>
            <a:off x="9189720" y="2125218"/>
            <a:ext cx="2377440" cy="1327404"/>
          </a:xfrm>
          <a:prstGeom prst="rect">
            <a:avLst/>
          </a:prstGeom>
          <a:ln w="9525">
            <a:solidFill>
              <a:srgbClr val="D5DBE5"/>
            </a:solidFill>
          </a:ln>
        </p:spPr>
      </p:pic>
      <p:sp>
        <p:nvSpPr>
          <p:cNvPr id="26" name="Oval 25"/>
          <p:cNvSpPr/>
          <p:nvPr/>
        </p:nvSpPr>
        <p:spPr>
          <a:xfrm>
            <a:off x="9189720" y="4160520"/>
            <a:ext cx="502920" cy="502920"/>
          </a:xfrm>
          <a:prstGeom prst="ellipse">
            <a:avLst/>
          </a:prstGeom>
          <a:solidFill>
            <a:srgbClr val="B8336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4</a:t>
            </a:r>
          </a:p>
        </p:txBody>
      </p:sp>
      <p:sp>
        <p:nvSpPr>
          <p:cNvPr id="27" name="TextBox 26"/>
          <p:cNvSpPr txBox="1"/>
          <p:nvPr/>
        </p:nvSpPr>
        <p:spPr>
          <a:xfrm>
            <a:off x="9784080" y="4187952"/>
            <a:ext cx="1828800" cy="457200"/>
          </a:xfrm>
          <a:prstGeom prst="rect">
            <a:avLst/>
          </a:prstGeom>
          <a:noFill/>
        </p:spPr>
        <p:txBody>
          <a:bodyPr wrap="square" lIns="45720" tIns="27432" rIns="45720" bIns="27432" anchor="t">
            <a:spAutoFit/>
          </a:bodyPr>
          <a:lstStyle/>
          <a:p>
            <a:pPr algn="l">
              <a:spcAft>
                <a:spcPts val="400"/>
              </a:spcAft>
            </a:pPr>
            <a:r>
              <a:rPr sz="1700" b="1" i="0">
                <a:solidFill>
                  <a:srgbClr val="1F3B66"/>
                </a:solidFill>
                <a:latin typeface="Calibri"/>
              </a:rPr>
              <a:t>Código</a:t>
            </a:r>
          </a:p>
        </p:txBody>
      </p:sp>
      <p:sp>
        <p:nvSpPr>
          <p:cNvPr id="28" name="TextBox 27"/>
          <p:cNvSpPr txBox="1"/>
          <p:nvPr/>
        </p:nvSpPr>
        <p:spPr>
          <a:xfrm>
            <a:off x="9189720" y="4800600"/>
            <a:ext cx="2377440" cy="1097280"/>
          </a:xfrm>
          <a:prstGeom prst="rect">
            <a:avLst/>
          </a:prstGeom>
          <a:noFill/>
        </p:spPr>
        <p:txBody>
          <a:bodyPr wrap="square" lIns="45720" tIns="27432" rIns="45720" bIns="27432" anchor="t">
            <a:spAutoFit/>
          </a:bodyPr>
          <a:lstStyle/>
          <a:p>
            <a:pPr algn="l">
              <a:spcAft>
                <a:spcPts val="400"/>
              </a:spcAft>
            </a:pPr>
            <a:r>
              <a:rPr sz="1400" b="0" i="0">
                <a:solidFill>
                  <a:srgbClr val="5A6475"/>
                </a:solidFill>
                <a:latin typeface="Calibri"/>
              </a:rPr>
              <a:t>¿Qué clases tiene el módulo Citas?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8229600" cy="320040"/>
          </a:xfrm>
          <a:prstGeom prst="rect">
            <a:avLst/>
          </a:prstGeom>
          <a:noFill/>
        </p:spPr>
        <p:txBody>
          <a:bodyPr wrap="square" lIns="45720" tIns="27432" rIns="45720" bIns="27432" anchor="t">
            <a:spAutoFit/>
          </a:bodyPr>
          <a:lstStyle/>
          <a:p>
            <a:pPr algn="l">
              <a:spcAft>
                <a:spcPts val="400"/>
              </a:spcAft>
            </a:pPr>
            <a:r>
              <a:rPr sz="1200" b="1" i="0">
                <a:solidFill>
                  <a:srgbClr val="B8336A"/>
                </a:solidFill>
                <a:latin typeface="Calibri"/>
              </a:rPr>
              <a:t>DISEÑO · MODELO C4</a:t>
            </a:r>
          </a:p>
        </p:txBody>
      </p:sp>
      <p:sp>
        <p:nvSpPr>
          <p:cNvPr id="3" name="TextBox 2"/>
          <p:cNvSpPr txBox="1"/>
          <p:nvPr/>
        </p:nvSpPr>
        <p:spPr>
          <a:xfrm>
            <a:off x="548640" y="566928"/>
            <a:ext cx="11155680" cy="731520"/>
          </a:xfrm>
          <a:prstGeom prst="rect">
            <a:avLst/>
          </a:prstGeom>
          <a:noFill/>
        </p:spPr>
        <p:txBody>
          <a:bodyPr wrap="square" lIns="45720" tIns="27432" rIns="45720" bIns="27432" anchor="t">
            <a:spAutoFit/>
          </a:bodyPr>
          <a:lstStyle/>
          <a:p>
            <a:pPr algn="l">
              <a:spcAft>
                <a:spcPts val="400"/>
              </a:spcAft>
            </a:pPr>
            <a:r>
              <a:rPr sz="3200" b="1" i="0">
                <a:solidFill>
                  <a:srgbClr val="1F3B66"/>
                </a:solidFill>
                <a:latin typeface="Calibri"/>
              </a:rPr>
              <a:t>Nivel 1 · Contexto del sistema</a:t>
            </a:r>
          </a:p>
        </p:txBody>
      </p:sp>
      <p:sp>
        <p:nvSpPr>
          <p:cNvPr id="4" name="TextBox 3"/>
          <p:cNvSpPr txBox="1"/>
          <p:nvPr/>
        </p:nvSpPr>
        <p:spPr>
          <a:xfrm>
            <a:off x="548640" y="6419088"/>
            <a:ext cx="5486400" cy="274320"/>
          </a:xfrm>
          <a:prstGeom prst="rect">
            <a:avLst/>
          </a:prstGeom>
          <a:noFill/>
        </p:spPr>
        <p:txBody>
          <a:bodyPr wrap="square" lIns="45720" tIns="27432" rIns="45720" bIns="27432" anchor="t">
            <a:spAutoFit/>
          </a:bodyPr>
          <a:lstStyle/>
          <a:p>
            <a:pPr algn="l">
              <a:spcAft>
                <a:spcPts val="400"/>
              </a:spcAft>
            </a:pPr>
            <a:r>
              <a:rPr sz="1000" b="0" i="0">
                <a:solidFill>
                  <a:srgbClr val="5A6475"/>
                </a:solidFill>
                <a:latin typeface="Calibri"/>
              </a:rPr>
              <a:t>AnyColor Salón · Primer sprint</a:t>
            </a:r>
          </a:p>
        </p:txBody>
      </p:sp>
      <p:sp>
        <p:nvSpPr>
          <p:cNvPr id="5" name="TextBox 4"/>
          <p:cNvSpPr txBox="1"/>
          <p:nvPr/>
        </p:nvSpPr>
        <p:spPr>
          <a:xfrm>
            <a:off x="10698480" y="6419088"/>
            <a:ext cx="1005840" cy="274320"/>
          </a:xfrm>
          <a:prstGeom prst="rect">
            <a:avLst/>
          </a:prstGeom>
          <a:noFill/>
        </p:spPr>
        <p:txBody>
          <a:bodyPr wrap="square" lIns="45720" tIns="27432" rIns="45720" bIns="27432" anchor="t">
            <a:spAutoFit/>
          </a:bodyPr>
          <a:lstStyle/>
          <a:p>
            <a:pPr algn="r">
              <a:spcAft>
                <a:spcPts val="400"/>
              </a:spcAft>
            </a:pPr>
            <a:r>
              <a:rPr sz="1000" b="0" i="0">
                <a:solidFill>
                  <a:srgbClr val="5A6475"/>
                </a:solidFill>
                <a:latin typeface="Calibri"/>
              </a:rPr>
              <a:t>9 / 14</a:t>
            </a:r>
          </a:p>
        </p:txBody>
      </p:sp>
      <p:pic>
        <p:nvPicPr>
          <p:cNvPr id="6" name="Picture 5" descr="image.png"/>
          <p:cNvPicPr>
            <a:picLocks noChangeAspect="1"/>
          </p:cNvPicPr>
          <p:nvPr/>
        </p:nvPicPr>
        <p:blipFill>
          <a:blip r:embed="rId3"/>
          <a:stretch>
            <a:fillRect/>
          </a:stretch>
        </p:blipFill>
        <p:spPr>
          <a:xfrm>
            <a:off x="1909948" y="1325880"/>
            <a:ext cx="8387343" cy="4983480"/>
          </a:xfrm>
          <a:prstGeom prst="rect">
            <a:avLst/>
          </a:prstGeom>
          <a:ln w="9525">
            <a:solidFill>
              <a:srgbClr val="D5DBE5"/>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8229600" cy="320040"/>
          </a:xfrm>
          <a:prstGeom prst="rect">
            <a:avLst/>
          </a:prstGeom>
          <a:noFill/>
        </p:spPr>
        <p:txBody>
          <a:bodyPr wrap="square" lIns="45720" tIns="27432" rIns="45720" bIns="27432" anchor="t">
            <a:spAutoFit/>
          </a:bodyPr>
          <a:lstStyle/>
          <a:p>
            <a:pPr algn="l">
              <a:spcAft>
                <a:spcPts val="400"/>
              </a:spcAft>
            </a:pPr>
            <a:r>
              <a:rPr sz="1200" b="1" i="0">
                <a:solidFill>
                  <a:srgbClr val="B8336A"/>
                </a:solidFill>
                <a:latin typeface="Calibri"/>
              </a:rPr>
              <a:t>DISEÑO · MODELO C4</a:t>
            </a:r>
          </a:p>
        </p:txBody>
      </p:sp>
      <p:sp>
        <p:nvSpPr>
          <p:cNvPr id="3" name="TextBox 2"/>
          <p:cNvSpPr txBox="1"/>
          <p:nvPr/>
        </p:nvSpPr>
        <p:spPr>
          <a:xfrm>
            <a:off x="548640" y="566928"/>
            <a:ext cx="11155680" cy="731520"/>
          </a:xfrm>
          <a:prstGeom prst="rect">
            <a:avLst/>
          </a:prstGeom>
          <a:noFill/>
        </p:spPr>
        <p:txBody>
          <a:bodyPr wrap="square" lIns="45720" tIns="27432" rIns="45720" bIns="27432" anchor="t">
            <a:spAutoFit/>
          </a:bodyPr>
          <a:lstStyle/>
          <a:p>
            <a:pPr algn="l">
              <a:spcAft>
                <a:spcPts val="400"/>
              </a:spcAft>
            </a:pPr>
            <a:r>
              <a:rPr sz="3200" b="1" i="0">
                <a:solidFill>
                  <a:srgbClr val="1F3B66"/>
                </a:solidFill>
                <a:latin typeface="Calibri"/>
              </a:rPr>
              <a:t>Nivel 2 · Contenedores</a:t>
            </a:r>
          </a:p>
        </p:txBody>
      </p:sp>
      <p:sp>
        <p:nvSpPr>
          <p:cNvPr id="4" name="TextBox 3"/>
          <p:cNvSpPr txBox="1"/>
          <p:nvPr/>
        </p:nvSpPr>
        <p:spPr>
          <a:xfrm>
            <a:off x="548640" y="6419088"/>
            <a:ext cx="5486400" cy="274320"/>
          </a:xfrm>
          <a:prstGeom prst="rect">
            <a:avLst/>
          </a:prstGeom>
          <a:noFill/>
        </p:spPr>
        <p:txBody>
          <a:bodyPr wrap="square" lIns="45720" tIns="27432" rIns="45720" bIns="27432" anchor="t">
            <a:spAutoFit/>
          </a:bodyPr>
          <a:lstStyle/>
          <a:p>
            <a:pPr algn="l">
              <a:spcAft>
                <a:spcPts val="400"/>
              </a:spcAft>
            </a:pPr>
            <a:r>
              <a:rPr sz="1000" b="0" i="0">
                <a:solidFill>
                  <a:srgbClr val="5A6475"/>
                </a:solidFill>
                <a:latin typeface="Calibri"/>
              </a:rPr>
              <a:t>AnyColor Salón · Primer sprint</a:t>
            </a:r>
          </a:p>
        </p:txBody>
      </p:sp>
      <p:sp>
        <p:nvSpPr>
          <p:cNvPr id="5" name="TextBox 4"/>
          <p:cNvSpPr txBox="1"/>
          <p:nvPr/>
        </p:nvSpPr>
        <p:spPr>
          <a:xfrm>
            <a:off x="10698480" y="6419088"/>
            <a:ext cx="1005840" cy="274320"/>
          </a:xfrm>
          <a:prstGeom prst="rect">
            <a:avLst/>
          </a:prstGeom>
          <a:noFill/>
        </p:spPr>
        <p:txBody>
          <a:bodyPr wrap="square" lIns="45720" tIns="27432" rIns="45720" bIns="27432" anchor="t">
            <a:spAutoFit/>
          </a:bodyPr>
          <a:lstStyle/>
          <a:p>
            <a:pPr algn="r">
              <a:spcAft>
                <a:spcPts val="400"/>
              </a:spcAft>
            </a:pPr>
            <a:r>
              <a:rPr sz="1000" b="0" i="0">
                <a:solidFill>
                  <a:srgbClr val="5A6475"/>
                </a:solidFill>
                <a:latin typeface="Calibri"/>
              </a:rPr>
              <a:t>10 / 14</a:t>
            </a:r>
          </a:p>
        </p:txBody>
      </p:sp>
      <p:pic>
        <p:nvPicPr>
          <p:cNvPr id="6" name="Picture 5" descr="image.png"/>
          <p:cNvPicPr>
            <a:picLocks noChangeAspect="1"/>
          </p:cNvPicPr>
          <p:nvPr/>
        </p:nvPicPr>
        <p:blipFill>
          <a:blip r:embed="rId3"/>
          <a:stretch>
            <a:fillRect/>
          </a:stretch>
        </p:blipFill>
        <p:spPr>
          <a:xfrm>
            <a:off x="742950" y="1325880"/>
            <a:ext cx="7475220" cy="4983480"/>
          </a:xfrm>
          <a:prstGeom prst="rect">
            <a:avLst/>
          </a:prstGeom>
          <a:ln w="9525">
            <a:solidFill>
              <a:srgbClr val="D5DBE5"/>
            </a:solidFill>
          </a:ln>
        </p:spPr>
      </p:pic>
      <p:sp>
        <p:nvSpPr>
          <p:cNvPr id="7" name="Rounded Rectangle 6"/>
          <p:cNvSpPr/>
          <p:nvPr/>
        </p:nvSpPr>
        <p:spPr>
          <a:xfrm>
            <a:off x="8686800" y="1417320"/>
            <a:ext cx="2971800" cy="841248"/>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51392" y="1508760"/>
            <a:ext cx="2697480" cy="731520"/>
          </a:xfrm>
          <a:prstGeom prst="rect">
            <a:avLst/>
          </a:prstGeom>
          <a:noFill/>
        </p:spPr>
        <p:txBody>
          <a:bodyPr wrap="square" lIns="45720" tIns="27432" rIns="45720" bIns="27432" anchor="t">
            <a:spAutoFit/>
          </a:bodyPr>
          <a:lstStyle/>
          <a:p>
            <a:pPr algn="l">
              <a:spcAft>
                <a:spcPts val="0"/>
              </a:spcAft>
            </a:pPr>
            <a:r>
              <a:rPr sz="1500" b="1" i="0">
                <a:solidFill>
                  <a:srgbClr val="1F3B66"/>
                </a:solidFill>
                <a:latin typeface="Calibri"/>
              </a:rPr>
              <a:t>Aplicación web</a:t>
            </a:r>
          </a:p>
          <a:p>
            <a:pPr algn="l">
              <a:spcAft>
                <a:spcPts val="0"/>
              </a:spcAft>
            </a:pPr>
            <a:r>
              <a:rPr sz="1300" b="0" i="0">
                <a:solidFill>
                  <a:srgbClr val="5A6475"/>
                </a:solidFill>
                <a:latin typeface="Calibri"/>
              </a:rPr>
              <a:t>Next.js / React · SPA</a:t>
            </a:r>
          </a:p>
        </p:txBody>
      </p:sp>
      <p:sp>
        <p:nvSpPr>
          <p:cNvPr id="9" name="Rounded Rectangle 8"/>
          <p:cNvSpPr/>
          <p:nvPr/>
        </p:nvSpPr>
        <p:spPr>
          <a:xfrm>
            <a:off x="8686800" y="2395728"/>
            <a:ext cx="2971800" cy="841248"/>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51392" y="2487168"/>
            <a:ext cx="2697480" cy="731520"/>
          </a:xfrm>
          <a:prstGeom prst="rect">
            <a:avLst/>
          </a:prstGeom>
          <a:noFill/>
        </p:spPr>
        <p:txBody>
          <a:bodyPr wrap="square" lIns="45720" tIns="27432" rIns="45720" bIns="27432" anchor="t">
            <a:spAutoFit/>
          </a:bodyPr>
          <a:lstStyle/>
          <a:p>
            <a:pPr algn="l">
              <a:spcAft>
                <a:spcPts val="0"/>
              </a:spcAft>
            </a:pPr>
            <a:r>
              <a:rPr sz="1500" b="1" i="0">
                <a:solidFill>
                  <a:srgbClr val="1F3B66"/>
                </a:solidFill>
                <a:latin typeface="Calibri"/>
              </a:rPr>
              <a:t>API AnyColor</a:t>
            </a:r>
          </a:p>
          <a:p>
            <a:pPr algn="l">
              <a:spcAft>
                <a:spcPts val="0"/>
              </a:spcAft>
            </a:pPr>
            <a:r>
              <a:rPr sz="1300" b="0" i="0">
                <a:solidFill>
                  <a:srgbClr val="5A6475"/>
                </a:solidFill>
                <a:latin typeface="Calibri"/>
              </a:rPr>
              <a:t>NestJS · N instancias sin estado</a:t>
            </a:r>
          </a:p>
        </p:txBody>
      </p:sp>
      <p:sp>
        <p:nvSpPr>
          <p:cNvPr id="11" name="Rounded Rectangle 10"/>
          <p:cNvSpPr/>
          <p:nvPr/>
        </p:nvSpPr>
        <p:spPr>
          <a:xfrm>
            <a:off x="8686800" y="3374136"/>
            <a:ext cx="2971800" cy="841248"/>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51392" y="3465576"/>
            <a:ext cx="2697480" cy="731520"/>
          </a:xfrm>
          <a:prstGeom prst="rect">
            <a:avLst/>
          </a:prstGeom>
          <a:noFill/>
        </p:spPr>
        <p:txBody>
          <a:bodyPr wrap="square" lIns="45720" tIns="27432" rIns="45720" bIns="27432" anchor="t">
            <a:spAutoFit/>
          </a:bodyPr>
          <a:lstStyle/>
          <a:p>
            <a:pPr algn="l">
              <a:spcAft>
                <a:spcPts val="0"/>
              </a:spcAft>
            </a:pPr>
            <a:r>
              <a:rPr sz="1500" b="1" i="0">
                <a:solidFill>
                  <a:srgbClr val="1F3B66"/>
                </a:solidFill>
                <a:latin typeface="Calibri"/>
              </a:rPr>
              <a:t>PostgreSQL 16</a:t>
            </a:r>
          </a:p>
          <a:p>
            <a:pPr algn="l">
              <a:spcAft>
                <a:spcPts val="0"/>
              </a:spcAft>
            </a:pPr>
            <a:r>
              <a:rPr sz="1300" b="0" i="0">
                <a:solidFill>
                  <a:srgbClr val="5A6475"/>
                </a:solidFill>
                <a:latin typeface="Calibri"/>
              </a:rPr>
              <a:t>Fuente de verdad ACID</a:t>
            </a:r>
          </a:p>
        </p:txBody>
      </p:sp>
      <p:sp>
        <p:nvSpPr>
          <p:cNvPr id="13" name="Rounded Rectangle 12"/>
          <p:cNvSpPr/>
          <p:nvPr/>
        </p:nvSpPr>
        <p:spPr>
          <a:xfrm>
            <a:off x="8686800" y="4352544"/>
            <a:ext cx="2971800" cy="841248"/>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51392" y="4443983"/>
            <a:ext cx="2697480" cy="731520"/>
          </a:xfrm>
          <a:prstGeom prst="rect">
            <a:avLst/>
          </a:prstGeom>
          <a:noFill/>
        </p:spPr>
        <p:txBody>
          <a:bodyPr wrap="square" lIns="45720" tIns="27432" rIns="45720" bIns="27432" anchor="t">
            <a:spAutoFit/>
          </a:bodyPr>
          <a:lstStyle/>
          <a:p>
            <a:pPr algn="l">
              <a:spcAft>
                <a:spcPts val="0"/>
              </a:spcAft>
            </a:pPr>
            <a:r>
              <a:rPr sz="1500" b="1" i="0">
                <a:solidFill>
                  <a:srgbClr val="1F3B66"/>
                </a:solidFill>
                <a:latin typeface="Calibri"/>
              </a:rPr>
              <a:t>Redis 7</a:t>
            </a:r>
          </a:p>
          <a:p>
            <a:pPr algn="l">
              <a:spcAft>
                <a:spcPts val="0"/>
              </a:spcAft>
            </a:pPr>
            <a:r>
              <a:rPr sz="1300" b="0" i="0">
                <a:solidFill>
                  <a:srgbClr val="5A6475"/>
                </a:solidFill>
                <a:latin typeface="Calibri"/>
              </a:rPr>
              <a:t>Bloqueos, caché y cola</a:t>
            </a:r>
          </a:p>
        </p:txBody>
      </p:sp>
      <p:sp>
        <p:nvSpPr>
          <p:cNvPr id="15" name="Rounded Rectangle 14"/>
          <p:cNvSpPr/>
          <p:nvPr/>
        </p:nvSpPr>
        <p:spPr>
          <a:xfrm>
            <a:off x="8686800" y="5330952"/>
            <a:ext cx="2971800" cy="841248"/>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51392" y="5422392"/>
            <a:ext cx="2697480" cy="731520"/>
          </a:xfrm>
          <a:prstGeom prst="rect">
            <a:avLst/>
          </a:prstGeom>
          <a:noFill/>
        </p:spPr>
        <p:txBody>
          <a:bodyPr wrap="square" lIns="45720" tIns="27432" rIns="45720" bIns="27432" anchor="t">
            <a:spAutoFit/>
          </a:bodyPr>
          <a:lstStyle/>
          <a:p>
            <a:pPr algn="l">
              <a:spcAft>
                <a:spcPts val="0"/>
              </a:spcAft>
            </a:pPr>
            <a:r>
              <a:rPr sz="1500" b="1" i="0">
                <a:solidFill>
                  <a:srgbClr val="1F3B66"/>
                </a:solidFill>
                <a:latin typeface="Calibri"/>
              </a:rPr>
              <a:t>Workers</a:t>
            </a:r>
          </a:p>
          <a:p>
            <a:pPr algn="l">
              <a:spcAft>
                <a:spcPts val="0"/>
              </a:spcAft>
            </a:pPr>
            <a:r>
              <a:rPr sz="1300" b="0" i="0">
                <a:solidFill>
                  <a:srgbClr val="5A6475"/>
                </a:solidFill>
                <a:latin typeface="Calibri"/>
              </a:rPr>
              <a:t>BullMQ · mensajes y PDF</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8229600" cy="320040"/>
          </a:xfrm>
          <a:prstGeom prst="rect">
            <a:avLst/>
          </a:prstGeom>
          <a:noFill/>
        </p:spPr>
        <p:txBody>
          <a:bodyPr wrap="square" lIns="45720" tIns="27432" rIns="45720" bIns="27432" anchor="t">
            <a:spAutoFit/>
          </a:bodyPr>
          <a:lstStyle/>
          <a:p>
            <a:pPr algn="l">
              <a:spcAft>
                <a:spcPts val="400"/>
              </a:spcAft>
            </a:pPr>
            <a:r>
              <a:rPr sz="1200" b="1" i="0">
                <a:solidFill>
                  <a:srgbClr val="B8336A"/>
                </a:solidFill>
                <a:latin typeface="Calibri"/>
              </a:rPr>
              <a:t>DISEÑO · MODELO C4</a:t>
            </a:r>
          </a:p>
        </p:txBody>
      </p:sp>
      <p:sp>
        <p:nvSpPr>
          <p:cNvPr id="3" name="TextBox 2"/>
          <p:cNvSpPr txBox="1"/>
          <p:nvPr/>
        </p:nvSpPr>
        <p:spPr>
          <a:xfrm>
            <a:off x="548640" y="566928"/>
            <a:ext cx="11155680" cy="731520"/>
          </a:xfrm>
          <a:prstGeom prst="rect">
            <a:avLst/>
          </a:prstGeom>
          <a:noFill/>
        </p:spPr>
        <p:txBody>
          <a:bodyPr wrap="square" lIns="45720" tIns="27432" rIns="45720" bIns="27432" anchor="t">
            <a:spAutoFit/>
          </a:bodyPr>
          <a:lstStyle/>
          <a:p>
            <a:pPr algn="l">
              <a:spcAft>
                <a:spcPts val="400"/>
              </a:spcAft>
            </a:pPr>
            <a:r>
              <a:rPr sz="3200" b="1" i="0">
                <a:solidFill>
                  <a:srgbClr val="1F3B66"/>
                </a:solidFill>
                <a:latin typeface="Calibri"/>
              </a:rPr>
              <a:t>Nivel 3 · Componentes de la API</a:t>
            </a:r>
          </a:p>
        </p:txBody>
      </p:sp>
      <p:sp>
        <p:nvSpPr>
          <p:cNvPr id="4" name="TextBox 3"/>
          <p:cNvSpPr txBox="1"/>
          <p:nvPr/>
        </p:nvSpPr>
        <p:spPr>
          <a:xfrm>
            <a:off x="548640" y="6419088"/>
            <a:ext cx="5486400" cy="274320"/>
          </a:xfrm>
          <a:prstGeom prst="rect">
            <a:avLst/>
          </a:prstGeom>
          <a:noFill/>
        </p:spPr>
        <p:txBody>
          <a:bodyPr wrap="square" lIns="45720" tIns="27432" rIns="45720" bIns="27432" anchor="t">
            <a:spAutoFit/>
          </a:bodyPr>
          <a:lstStyle/>
          <a:p>
            <a:pPr algn="l">
              <a:spcAft>
                <a:spcPts val="400"/>
              </a:spcAft>
            </a:pPr>
            <a:r>
              <a:rPr sz="1000" b="0" i="0">
                <a:solidFill>
                  <a:srgbClr val="5A6475"/>
                </a:solidFill>
                <a:latin typeface="Calibri"/>
              </a:rPr>
              <a:t>AnyColor Salón · Primer sprint</a:t>
            </a:r>
          </a:p>
        </p:txBody>
      </p:sp>
      <p:sp>
        <p:nvSpPr>
          <p:cNvPr id="5" name="TextBox 4"/>
          <p:cNvSpPr txBox="1"/>
          <p:nvPr/>
        </p:nvSpPr>
        <p:spPr>
          <a:xfrm>
            <a:off x="10698480" y="6419088"/>
            <a:ext cx="1005840" cy="274320"/>
          </a:xfrm>
          <a:prstGeom prst="rect">
            <a:avLst/>
          </a:prstGeom>
          <a:noFill/>
        </p:spPr>
        <p:txBody>
          <a:bodyPr wrap="square" lIns="45720" tIns="27432" rIns="45720" bIns="27432" anchor="t">
            <a:spAutoFit/>
          </a:bodyPr>
          <a:lstStyle/>
          <a:p>
            <a:pPr algn="r">
              <a:spcAft>
                <a:spcPts val="400"/>
              </a:spcAft>
            </a:pPr>
            <a:r>
              <a:rPr sz="1000" b="0" i="0">
                <a:solidFill>
                  <a:srgbClr val="5A6475"/>
                </a:solidFill>
                <a:latin typeface="Calibri"/>
              </a:rPr>
              <a:t>11 / 14</a:t>
            </a:r>
          </a:p>
        </p:txBody>
      </p:sp>
      <p:pic>
        <p:nvPicPr>
          <p:cNvPr id="6" name="Picture 5" descr="image.png"/>
          <p:cNvPicPr>
            <a:picLocks noChangeAspect="1"/>
          </p:cNvPicPr>
          <p:nvPr/>
        </p:nvPicPr>
        <p:blipFill>
          <a:blip r:embed="rId3"/>
          <a:stretch>
            <a:fillRect/>
          </a:stretch>
        </p:blipFill>
        <p:spPr>
          <a:xfrm>
            <a:off x="691075" y="1325880"/>
            <a:ext cx="5750169" cy="4983480"/>
          </a:xfrm>
          <a:prstGeom prst="rect">
            <a:avLst/>
          </a:prstGeom>
          <a:ln w="9525">
            <a:solidFill>
              <a:srgbClr val="D5DBE5"/>
            </a:solidFill>
          </a:ln>
        </p:spPr>
      </p:pic>
      <p:sp>
        <p:nvSpPr>
          <p:cNvPr id="7" name="TextBox 6"/>
          <p:cNvSpPr txBox="1"/>
          <p:nvPr/>
        </p:nvSpPr>
        <p:spPr>
          <a:xfrm>
            <a:off x="6949440" y="1417320"/>
            <a:ext cx="4754880" cy="365760"/>
          </a:xfrm>
          <a:prstGeom prst="rect">
            <a:avLst/>
          </a:prstGeom>
          <a:noFill/>
        </p:spPr>
        <p:txBody>
          <a:bodyPr wrap="square" lIns="45720" tIns="27432" rIns="45720" bIns="27432" anchor="t">
            <a:spAutoFit/>
          </a:bodyPr>
          <a:lstStyle/>
          <a:p>
            <a:pPr algn="l">
              <a:spcAft>
                <a:spcPts val="400"/>
              </a:spcAft>
            </a:pPr>
            <a:r>
              <a:rPr sz="1700" b="1" i="0">
                <a:solidFill>
                  <a:srgbClr val="1F3B66"/>
                </a:solidFill>
                <a:latin typeface="Calibri"/>
              </a:rPr>
              <a:t>¿De dónde sale cada componente?</a:t>
            </a:r>
          </a:p>
        </p:txBody>
      </p:sp>
      <p:sp>
        <p:nvSpPr>
          <p:cNvPr id="8" name="Rounded Rectangle 7"/>
          <p:cNvSpPr/>
          <p:nvPr/>
        </p:nvSpPr>
        <p:spPr>
          <a:xfrm>
            <a:off x="6949440" y="1874519"/>
            <a:ext cx="2240280" cy="786384"/>
          </a:xfrm>
          <a:prstGeom prst="roundRect">
            <a:avLst>
              <a:gd name="adj" fmla="val 8000"/>
            </a:avLst>
          </a:prstGeom>
          <a:solidFill>
            <a:srgbClr val="FB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59168" y="1929384"/>
            <a:ext cx="2057400" cy="731520"/>
          </a:xfrm>
          <a:prstGeom prst="rect">
            <a:avLst/>
          </a:prstGeom>
          <a:noFill/>
        </p:spPr>
        <p:txBody>
          <a:bodyPr wrap="square" lIns="45720" tIns="27432" rIns="45720" bIns="27432" anchor="t">
            <a:spAutoFit/>
          </a:bodyPr>
          <a:lstStyle/>
          <a:p>
            <a:pPr algn="l">
              <a:spcAft>
                <a:spcPts val="0"/>
              </a:spcAft>
            </a:pPr>
            <a:r>
              <a:rPr sz="1400" b="1" i="0">
                <a:solidFill>
                  <a:srgbClr val="1F3B66"/>
                </a:solidFill>
                <a:latin typeface="Calibri"/>
              </a:rPr>
              <a:t>Citas</a:t>
            </a:r>
          </a:p>
          <a:p>
            <a:pPr algn="l">
              <a:spcAft>
                <a:spcPts val="0"/>
              </a:spcAft>
            </a:pPr>
            <a:r>
              <a:rPr sz="1200" b="0" i="0">
                <a:solidFill>
                  <a:srgbClr val="B8336A"/>
                </a:solidFill>
                <a:latin typeface="Calibri"/>
              </a:rPr>
              <a:t>RF05–RF08 · DA01</a:t>
            </a:r>
          </a:p>
        </p:txBody>
      </p:sp>
      <p:sp>
        <p:nvSpPr>
          <p:cNvPr id="10" name="Rounded Rectangle 9"/>
          <p:cNvSpPr/>
          <p:nvPr/>
        </p:nvSpPr>
        <p:spPr>
          <a:xfrm>
            <a:off x="9326880" y="1874519"/>
            <a:ext cx="2240280" cy="786384"/>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36607" y="1929384"/>
            <a:ext cx="2057400" cy="731520"/>
          </a:xfrm>
          <a:prstGeom prst="rect">
            <a:avLst/>
          </a:prstGeom>
          <a:noFill/>
        </p:spPr>
        <p:txBody>
          <a:bodyPr wrap="square" lIns="45720" tIns="27432" rIns="45720" bIns="27432" anchor="t">
            <a:spAutoFit/>
          </a:bodyPr>
          <a:lstStyle/>
          <a:p>
            <a:pPr algn="l">
              <a:spcAft>
                <a:spcPts val="0"/>
              </a:spcAft>
            </a:pPr>
            <a:r>
              <a:rPr sz="1400" b="1" i="0">
                <a:solidFill>
                  <a:srgbClr val="1F3B66"/>
                </a:solidFill>
                <a:latin typeface="Calibri"/>
              </a:rPr>
              <a:t>POS y Caja</a:t>
            </a:r>
          </a:p>
          <a:p>
            <a:pPr algn="l">
              <a:spcAft>
                <a:spcPts val="0"/>
              </a:spcAft>
            </a:pPr>
            <a:r>
              <a:rPr sz="1200" b="0" i="0">
                <a:solidFill>
                  <a:srgbClr val="5A6475"/>
                </a:solidFill>
                <a:latin typeface="Calibri"/>
              </a:rPr>
              <a:t>RF09–RF11, RF18 · DA03</a:t>
            </a:r>
          </a:p>
        </p:txBody>
      </p:sp>
      <p:sp>
        <p:nvSpPr>
          <p:cNvPr id="12" name="Rounded Rectangle 11"/>
          <p:cNvSpPr/>
          <p:nvPr/>
        </p:nvSpPr>
        <p:spPr>
          <a:xfrm>
            <a:off x="6949440" y="2788920"/>
            <a:ext cx="2240280" cy="786384"/>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59168" y="2843784"/>
            <a:ext cx="2057400" cy="731520"/>
          </a:xfrm>
          <a:prstGeom prst="rect">
            <a:avLst/>
          </a:prstGeom>
          <a:noFill/>
        </p:spPr>
        <p:txBody>
          <a:bodyPr wrap="square" lIns="45720" tIns="27432" rIns="45720" bIns="27432" anchor="t">
            <a:spAutoFit/>
          </a:bodyPr>
          <a:lstStyle/>
          <a:p>
            <a:pPr algn="l">
              <a:spcAft>
                <a:spcPts val="0"/>
              </a:spcAft>
            </a:pPr>
            <a:r>
              <a:rPr sz="1400" b="1" i="0">
                <a:solidFill>
                  <a:srgbClr val="1F3B66"/>
                </a:solidFill>
                <a:latin typeface="Calibri"/>
              </a:rPr>
              <a:t>Inventario</a:t>
            </a:r>
          </a:p>
          <a:p>
            <a:pPr algn="l">
              <a:spcAft>
                <a:spcPts val="0"/>
              </a:spcAft>
            </a:pPr>
            <a:r>
              <a:rPr sz="1200" b="0" i="0">
                <a:solidFill>
                  <a:srgbClr val="5A6475"/>
                </a:solidFill>
                <a:latin typeface="Calibri"/>
              </a:rPr>
              <a:t>RF12–RF14</a:t>
            </a:r>
          </a:p>
        </p:txBody>
      </p:sp>
      <p:sp>
        <p:nvSpPr>
          <p:cNvPr id="14" name="Rounded Rectangle 13"/>
          <p:cNvSpPr/>
          <p:nvPr/>
        </p:nvSpPr>
        <p:spPr>
          <a:xfrm>
            <a:off x="9326880" y="2788920"/>
            <a:ext cx="2240280" cy="786384"/>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436607" y="2843784"/>
            <a:ext cx="2057400" cy="731520"/>
          </a:xfrm>
          <a:prstGeom prst="rect">
            <a:avLst/>
          </a:prstGeom>
          <a:noFill/>
        </p:spPr>
        <p:txBody>
          <a:bodyPr wrap="square" lIns="45720" tIns="27432" rIns="45720" bIns="27432" anchor="t">
            <a:spAutoFit/>
          </a:bodyPr>
          <a:lstStyle/>
          <a:p>
            <a:pPr algn="l">
              <a:spcAft>
                <a:spcPts val="0"/>
              </a:spcAft>
            </a:pPr>
            <a:r>
              <a:rPr sz="1400" b="1" i="0">
                <a:solidFill>
                  <a:srgbClr val="1F3B66"/>
                </a:solidFill>
                <a:latin typeface="Calibri"/>
              </a:rPr>
              <a:t>Catálogo</a:t>
            </a:r>
          </a:p>
          <a:p>
            <a:pPr algn="l">
              <a:spcAft>
                <a:spcPts val="0"/>
              </a:spcAft>
            </a:pPr>
            <a:r>
              <a:rPr sz="1200" b="0" i="0">
                <a:solidFill>
                  <a:srgbClr val="5A6475"/>
                </a:solidFill>
                <a:latin typeface="Calibri"/>
              </a:rPr>
              <a:t>RF04 · DA05</a:t>
            </a:r>
          </a:p>
        </p:txBody>
      </p:sp>
      <p:sp>
        <p:nvSpPr>
          <p:cNvPr id="16" name="Rounded Rectangle 15"/>
          <p:cNvSpPr/>
          <p:nvPr/>
        </p:nvSpPr>
        <p:spPr>
          <a:xfrm>
            <a:off x="6949440" y="3703320"/>
            <a:ext cx="2240280" cy="786384"/>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59168" y="3758183"/>
            <a:ext cx="2057400" cy="731520"/>
          </a:xfrm>
          <a:prstGeom prst="rect">
            <a:avLst/>
          </a:prstGeom>
          <a:noFill/>
        </p:spPr>
        <p:txBody>
          <a:bodyPr wrap="square" lIns="45720" tIns="27432" rIns="45720" bIns="27432" anchor="t">
            <a:spAutoFit/>
          </a:bodyPr>
          <a:lstStyle/>
          <a:p>
            <a:pPr algn="l">
              <a:spcAft>
                <a:spcPts val="0"/>
              </a:spcAft>
            </a:pPr>
            <a:r>
              <a:rPr sz="1400" b="1" i="0">
                <a:solidFill>
                  <a:srgbClr val="1F3B66"/>
                </a:solidFill>
                <a:latin typeface="Calibri"/>
              </a:rPr>
              <a:t>Personal y Comisiones</a:t>
            </a:r>
          </a:p>
          <a:p>
            <a:pPr algn="l">
              <a:spcAft>
                <a:spcPts val="0"/>
              </a:spcAft>
            </a:pPr>
            <a:r>
              <a:rPr sz="1200" b="0" i="0">
                <a:solidFill>
                  <a:srgbClr val="5A6475"/>
                </a:solidFill>
                <a:latin typeface="Calibri"/>
              </a:rPr>
              <a:t>RF15–RF17</a:t>
            </a:r>
          </a:p>
        </p:txBody>
      </p:sp>
      <p:sp>
        <p:nvSpPr>
          <p:cNvPr id="18" name="Rounded Rectangle 17"/>
          <p:cNvSpPr/>
          <p:nvPr/>
        </p:nvSpPr>
        <p:spPr>
          <a:xfrm>
            <a:off x="9326880" y="3703320"/>
            <a:ext cx="2240280" cy="786384"/>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36607" y="3758183"/>
            <a:ext cx="2057400" cy="731520"/>
          </a:xfrm>
          <a:prstGeom prst="rect">
            <a:avLst/>
          </a:prstGeom>
          <a:noFill/>
        </p:spPr>
        <p:txBody>
          <a:bodyPr wrap="square" lIns="45720" tIns="27432" rIns="45720" bIns="27432" anchor="t">
            <a:spAutoFit/>
          </a:bodyPr>
          <a:lstStyle/>
          <a:p>
            <a:pPr algn="l">
              <a:spcAft>
                <a:spcPts val="0"/>
              </a:spcAft>
            </a:pPr>
            <a:r>
              <a:rPr sz="1400" b="1" i="0">
                <a:solidFill>
                  <a:srgbClr val="1F3B66"/>
                </a:solidFill>
                <a:latin typeface="Calibri"/>
              </a:rPr>
              <a:t>Usuarios y Sedes</a:t>
            </a:r>
          </a:p>
          <a:p>
            <a:pPr algn="l">
              <a:spcAft>
                <a:spcPts val="0"/>
              </a:spcAft>
            </a:pPr>
            <a:r>
              <a:rPr sz="1200" b="0" i="0">
                <a:solidFill>
                  <a:srgbClr val="5A6475"/>
                </a:solidFill>
                <a:latin typeface="Calibri"/>
              </a:rPr>
              <a:t>RF01–RF03 · DA04</a:t>
            </a:r>
          </a:p>
        </p:txBody>
      </p:sp>
      <p:sp>
        <p:nvSpPr>
          <p:cNvPr id="20" name="Rounded Rectangle 19"/>
          <p:cNvSpPr/>
          <p:nvPr/>
        </p:nvSpPr>
        <p:spPr>
          <a:xfrm>
            <a:off x="6949440" y="4617720"/>
            <a:ext cx="2240280" cy="786384"/>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59168" y="4672583"/>
            <a:ext cx="2057400" cy="731520"/>
          </a:xfrm>
          <a:prstGeom prst="rect">
            <a:avLst/>
          </a:prstGeom>
          <a:noFill/>
        </p:spPr>
        <p:txBody>
          <a:bodyPr wrap="square" lIns="45720" tIns="27432" rIns="45720" bIns="27432" anchor="t">
            <a:spAutoFit/>
          </a:bodyPr>
          <a:lstStyle/>
          <a:p>
            <a:pPr algn="l">
              <a:spcAft>
                <a:spcPts val="0"/>
              </a:spcAft>
            </a:pPr>
            <a:r>
              <a:rPr sz="1400" b="1" i="0">
                <a:solidFill>
                  <a:srgbClr val="1F3B66"/>
                </a:solidFill>
                <a:latin typeface="Calibri"/>
              </a:rPr>
              <a:t>Reportes</a:t>
            </a:r>
          </a:p>
          <a:p>
            <a:pPr algn="l">
              <a:spcAft>
                <a:spcPts val="0"/>
              </a:spcAft>
            </a:pPr>
            <a:r>
              <a:rPr sz="1200" b="0" i="0">
                <a:solidFill>
                  <a:srgbClr val="5A6475"/>
                </a:solidFill>
                <a:latin typeface="Calibri"/>
              </a:rPr>
              <a:t>RF19–RF21 · DA08</a:t>
            </a:r>
          </a:p>
        </p:txBody>
      </p:sp>
      <p:sp>
        <p:nvSpPr>
          <p:cNvPr id="22" name="Rounded Rectangle 21"/>
          <p:cNvSpPr/>
          <p:nvPr/>
        </p:nvSpPr>
        <p:spPr>
          <a:xfrm>
            <a:off x="9326880" y="4617720"/>
            <a:ext cx="2240280" cy="786384"/>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36607" y="4672583"/>
            <a:ext cx="2057400" cy="731520"/>
          </a:xfrm>
          <a:prstGeom prst="rect">
            <a:avLst/>
          </a:prstGeom>
          <a:noFill/>
        </p:spPr>
        <p:txBody>
          <a:bodyPr wrap="square" lIns="45720" tIns="27432" rIns="45720" bIns="27432" anchor="t">
            <a:spAutoFit/>
          </a:bodyPr>
          <a:lstStyle/>
          <a:p>
            <a:pPr algn="l">
              <a:spcAft>
                <a:spcPts val="0"/>
              </a:spcAft>
            </a:pPr>
            <a:r>
              <a:rPr sz="1400" b="1" i="0">
                <a:solidFill>
                  <a:srgbClr val="1F3B66"/>
                </a:solidFill>
                <a:latin typeface="Calibri"/>
              </a:rPr>
              <a:t>Notificaciones</a:t>
            </a:r>
          </a:p>
          <a:p>
            <a:pPr algn="l">
              <a:spcAft>
                <a:spcPts val="0"/>
              </a:spcAft>
            </a:pPr>
            <a:r>
              <a:rPr sz="1200" b="0" i="0">
                <a:solidFill>
                  <a:srgbClr val="5A6475"/>
                </a:solidFill>
                <a:latin typeface="Calibri"/>
              </a:rPr>
              <a:t>RF22 · DA07</a:t>
            </a:r>
          </a:p>
        </p:txBody>
      </p:sp>
      <p:sp>
        <p:nvSpPr>
          <p:cNvPr id="24" name="TextBox 23"/>
          <p:cNvSpPr txBox="1"/>
          <p:nvPr/>
        </p:nvSpPr>
        <p:spPr>
          <a:xfrm>
            <a:off x="6949440" y="5623560"/>
            <a:ext cx="4709160" cy="640080"/>
          </a:xfrm>
          <a:prstGeom prst="rect">
            <a:avLst/>
          </a:prstGeom>
          <a:noFill/>
        </p:spPr>
        <p:txBody>
          <a:bodyPr wrap="square" lIns="45720" tIns="27432" rIns="45720" bIns="27432" anchor="t">
            <a:spAutoFit/>
          </a:bodyPr>
          <a:lstStyle/>
          <a:p>
            <a:pPr algn="l">
              <a:spcAft>
                <a:spcPts val="400"/>
              </a:spcAft>
            </a:pPr>
            <a:r>
              <a:rPr sz="1400" b="0" i="0">
                <a:solidFill>
                  <a:srgbClr val="5A6475"/>
                </a:solidFill>
                <a:latin typeface="Calibri"/>
              </a:rPr>
              <a:t>Regla: un módulo usa a otro solo por su API pública y nunca lee sus tablas.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8229600" cy="320040"/>
          </a:xfrm>
          <a:prstGeom prst="rect">
            <a:avLst/>
          </a:prstGeom>
          <a:noFill/>
        </p:spPr>
        <p:txBody>
          <a:bodyPr wrap="square" lIns="45720" tIns="27432" rIns="45720" bIns="27432" anchor="t">
            <a:spAutoFit/>
          </a:bodyPr>
          <a:lstStyle/>
          <a:p>
            <a:pPr algn="l">
              <a:spcAft>
                <a:spcPts val="400"/>
              </a:spcAft>
            </a:pPr>
            <a:r>
              <a:rPr sz="1200" b="1" i="0">
                <a:solidFill>
                  <a:srgbClr val="B8336A"/>
                </a:solidFill>
                <a:latin typeface="Calibri"/>
              </a:rPr>
              <a:t>DISEÑO · MODELO C4</a:t>
            </a:r>
          </a:p>
        </p:txBody>
      </p:sp>
      <p:sp>
        <p:nvSpPr>
          <p:cNvPr id="3" name="TextBox 2"/>
          <p:cNvSpPr txBox="1"/>
          <p:nvPr/>
        </p:nvSpPr>
        <p:spPr>
          <a:xfrm>
            <a:off x="548640" y="566928"/>
            <a:ext cx="11155680" cy="731520"/>
          </a:xfrm>
          <a:prstGeom prst="rect">
            <a:avLst/>
          </a:prstGeom>
          <a:noFill/>
        </p:spPr>
        <p:txBody>
          <a:bodyPr wrap="square" lIns="45720" tIns="27432" rIns="45720" bIns="27432" anchor="t">
            <a:spAutoFit/>
          </a:bodyPr>
          <a:lstStyle/>
          <a:p>
            <a:pPr algn="l">
              <a:spcAft>
                <a:spcPts val="400"/>
              </a:spcAft>
            </a:pPr>
            <a:r>
              <a:rPr sz="3200" b="1" i="0">
                <a:solidFill>
                  <a:srgbClr val="1F3B66"/>
                </a:solidFill>
                <a:latin typeface="Calibri"/>
              </a:rPr>
              <a:t>Nivel 4 · Código del módulo Citas</a:t>
            </a:r>
          </a:p>
        </p:txBody>
      </p:sp>
      <p:sp>
        <p:nvSpPr>
          <p:cNvPr id="4" name="TextBox 3"/>
          <p:cNvSpPr txBox="1"/>
          <p:nvPr/>
        </p:nvSpPr>
        <p:spPr>
          <a:xfrm>
            <a:off x="548640" y="6419088"/>
            <a:ext cx="5486400" cy="274320"/>
          </a:xfrm>
          <a:prstGeom prst="rect">
            <a:avLst/>
          </a:prstGeom>
          <a:noFill/>
        </p:spPr>
        <p:txBody>
          <a:bodyPr wrap="square" lIns="45720" tIns="27432" rIns="45720" bIns="27432" anchor="t">
            <a:spAutoFit/>
          </a:bodyPr>
          <a:lstStyle/>
          <a:p>
            <a:pPr algn="l">
              <a:spcAft>
                <a:spcPts val="400"/>
              </a:spcAft>
            </a:pPr>
            <a:r>
              <a:rPr sz="1000" b="0" i="0">
                <a:solidFill>
                  <a:srgbClr val="5A6475"/>
                </a:solidFill>
                <a:latin typeface="Calibri"/>
              </a:rPr>
              <a:t>AnyColor Salón · Primer sprint</a:t>
            </a:r>
          </a:p>
        </p:txBody>
      </p:sp>
      <p:sp>
        <p:nvSpPr>
          <p:cNvPr id="5" name="TextBox 4"/>
          <p:cNvSpPr txBox="1"/>
          <p:nvPr/>
        </p:nvSpPr>
        <p:spPr>
          <a:xfrm>
            <a:off x="10698480" y="6419088"/>
            <a:ext cx="1005840" cy="274320"/>
          </a:xfrm>
          <a:prstGeom prst="rect">
            <a:avLst/>
          </a:prstGeom>
          <a:noFill/>
        </p:spPr>
        <p:txBody>
          <a:bodyPr wrap="square" lIns="45720" tIns="27432" rIns="45720" bIns="27432" anchor="t">
            <a:spAutoFit/>
          </a:bodyPr>
          <a:lstStyle/>
          <a:p>
            <a:pPr algn="r">
              <a:spcAft>
                <a:spcPts val="400"/>
              </a:spcAft>
            </a:pPr>
            <a:r>
              <a:rPr sz="1000" b="0" i="0">
                <a:solidFill>
                  <a:srgbClr val="5A6475"/>
                </a:solidFill>
                <a:latin typeface="Calibri"/>
              </a:rPr>
              <a:t>12 / 14</a:t>
            </a:r>
          </a:p>
        </p:txBody>
      </p:sp>
      <p:pic>
        <p:nvPicPr>
          <p:cNvPr id="6" name="Picture 5" descr="image.png"/>
          <p:cNvPicPr>
            <a:picLocks noChangeAspect="1"/>
          </p:cNvPicPr>
          <p:nvPr/>
        </p:nvPicPr>
        <p:blipFill>
          <a:blip r:embed="rId3"/>
          <a:stretch>
            <a:fillRect/>
          </a:stretch>
        </p:blipFill>
        <p:spPr>
          <a:xfrm>
            <a:off x="1640802" y="1325880"/>
            <a:ext cx="8925635" cy="4983480"/>
          </a:xfrm>
          <a:prstGeom prst="rect">
            <a:avLst/>
          </a:prstGeom>
          <a:ln w="9525">
            <a:solidFill>
              <a:srgbClr val="D5DBE5"/>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8229600" cy="320040"/>
          </a:xfrm>
          <a:prstGeom prst="rect">
            <a:avLst/>
          </a:prstGeom>
          <a:noFill/>
        </p:spPr>
        <p:txBody>
          <a:bodyPr wrap="square" lIns="45720" tIns="27432" rIns="45720" bIns="27432" anchor="t">
            <a:spAutoFit/>
          </a:bodyPr>
          <a:lstStyle/>
          <a:p>
            <a:pPr algn="l">
              <a:spcAft>
                <a:spcPts val="400"/>
              </a:spcAft>
            </a:pPr>
            <a:r>
              <a:rPr sz="1200" b="1" i="0">
                <a:solidFill>
                  <a:srgbClr val="B8336A"/>
                </a:solidFill>
                <a:latin typeface="Calibri"/>
              </a:rPr>
              <a:t>DISEÑO · MODELO C4</a:t>
            </a:r>
          </a:p>
        </p:txBody>
      </p:sp>
      <p:sp>
        <p:nvSpPr>
          <p:cNvPr id="3" name="TextBox 2"/>
          <p:cNvSpPr txBox="1"/>
          <p:nvPr/>
        </p:nvSpPr>
        <p:spPr>
          <a:xfrm>
            <a:off x="548640" y="566928"/>
            <a:ext cx="11155680" cy="731520"/>
          </a:xfrm>
          <a:prstGeom prst="rect">
            <a:avLst/>
          </a:prstGeom>
          <a:noFill/>
        </p:spPr>
        <p:txBody>
          <a:bodyPr wrap="square" lIns="45720" tIns="27432" rIns="45720" bIns="27432" anchor="t">
            <a:spAutoFit/>
          </a:bodyPr>
          <a:lstStyle/>
          <a:p>
            <a:pPr algn="l">
              <a:spcAft>
                <a:spcPts val="400"/>
              </a:spcAft>
            </a:pPr>
            <a:r>
              <a:rPr sz="3200" b="1" i="0">
                <a:solidFill>
                  <a:srgbClr val="1F3B66"/>
                </a:solidFill>
                <a:latin typeface="Calibri"/>
              </a:rPr>
              <a:t>Nivel 4 · Secuencia: dos pasos y una guardia final</a:t>
            </a:r>
          </a:p>
        </p:txBody>
      </p:sp>
      <p:sp>
        <p:nvSpPr>
          <p:cNvPr id="4" name="TextBox 3"/>
          <p:cNvSpPr txBox="1"/>
          <p:nvPr/>
        </p:nvSpPr>
        <p:spPr>
          <a:xfrm>
            <a:off x="548640" y="6419088"/>
            <a:ext cx="5486400" cy="274320"/>
          </a:xfrm>
          <a:prstGeom prst="rect">
            <a:avLst/>
          </a:prstGeom>
          <a:noFill/>
        </p:spPr>
        <p:txBody>
          <a:bodyPr wrap="square" lIns="45720" tIns="27432" rIns="45720" bIns="27432" anchor="t">
            <a:spAutoFit/>
          </a:bodyPr>
          <a:lstStyle/>
          <a:p>
            <a:pPr algn="l">
              <a:spcAft>
                <a:spcPts val="400"/>
              </a:spcAft>
            </a:pPr>
            <a:r>
              <a:rPr sz="1000" b="0" i="0">
                <a:solidFill>
                  <a:srgbClr val="5A6475"/>
                </a:solidFill>
                <a:latin typeface="Calibri"/>
              </a:rPr>
              <a:t>AnyColor Salón · Primer sprint</a:t>
            </a:r>
          </a:p>
        </p:txBody>
      </p:sp>
      <p:sp>
        <p:nvSpPr>
          <p:cNvPr id="5" name="TextBox 4"/>
          <p:cNvSpPr txBox="1"/>
          <p:nvPr/>
        </p:nvSpPr>
        <p:spPr>
          <a:xfrm>
            <a:off x="10698480" y="6419088"/>
            <a:ext cx="1005840" cy="274320"/>
          </a:xfrm>
          <a:prstGeom prst="rect">
            <a:avLst/>
          </a:prstGeom>
          <a:noFill/>
        </p:spPr>
        <p:txBody>
          <a:bodyPr wrap="square" lIns="45720" tIns="27432" rIns="45720" bIns="27432" anchor="t">
            <a:spAutoFit/>
          </a:bodyPr>
          <a:lstStyle/>
          <a:p>
            <a:pPr algn="r">
              <a:spcAft>
                <a:spcPts val="400"/>
              </a:spcAft>
            </a:pPr>
            <a:r>
              <a:rPr sz="1000" b="0" i="0">
                <a:solidFill>
                  <a:srgbClr val="5A6475"/>
                </a:solidFill>
                <a:latin typeface="Calibri"/>
              </a:rPr>
              <a:t>13 / 14</a:t>
            </a:r>
          </a:p>
        </p:txBody>
      </p:sp>
      <p:pic>
        <p:nvPicPr>
          <p:cNvPr id="6" name="Picture 5" descr="image.png"/>
          <p:cNvPicPr>
            <a:picLocks noChangeAspect="1"/>
          </p:cNvPicPr>
          <p:nvPr/>
        </p:nvPicPr>
        <p:blipFill>
          <a:blip r:embed="rId3"/>
          <a:stretch>
            <a:fillRect/>
          </a:stretch>
        </p:blipFill>
        <p:spPr>
          <a:xfrm>
            <a:off x="2158912" y="1325880"/>
            <a:ext cx="7889414" cy="4983480"/>
          </a:xfrm>
          <a:prstGeom prst="rect">
            <a:avLst/>
          </a:prstGeom>
          <a:ln w="9525">
            <a:solidFill>
              <a:srgbClr val="D5DBE5"/>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2205</Words>
  <Application>Microsoft Office PowerPoint</Application>
  <PresentationFormat>Panorámica</PresentationFormat>
  <Paragraphs>229</Paragraphs>
  <Slides>13</Slides>
  <Notes>13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13</vt:i4>
      </vt:variant>
    </vt:vector>
  </HeadingPairs>
  <TitlesOfParts>
    <vt:vector size="16"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AnyColor Salón · Primer sprint</dc:title>
  <dc:subject/>
  <dc:creator>Andy Rodrigo Conde Cayllahua</dc:creator>
  <cp:keywords/>
  <dc:description>generated using python-pptx</dc:description>
  <cp:lastModifiedBy>Rodrigo Shelby</cp:lastModifiedBy>
  <cp:revision>2</cp:revision>
  <dcterms:created xsi:type="dcterms:W3CDTF">2013-01-27T09:14:16Z</dcterms:created>
  <dcterms:modified xsi:type="dcterms:W3CDTF">2026-10-12T04:55:18Z</dcterms:modified>
  <cp:category/>
</cp:coreProperties>
</file>